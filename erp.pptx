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8"/>
  </p:notesMasterIdLst>
  <p:sldIdLst>
    <p:sldId id="256" r:id="rId2"/>
    <p:sldId id="714" r:id="rId3"/>
    <p:sldId id="674" r:id="rId4"/>
    <p:sldId id="715" r:id="rId5"/>
    <p:sldId id="717" r:id="rId6"/>
    <p:sldId id="718" r:id="rId7"/>
    <p:sldId id="712" r:id="rId8"/>
    <p:sldId id="676" r:id="rId9"/>
    <p:sldId id="720" r:id="rId10"/>
    <p:sldId id="722" r:id="rId11"/>
    <p:sldId id="727" r:id="rId12"/>
    <p:sldId id="728" r:id="rId13"/>
    <p:sldId id="725" r:id="rId14"/>
    <p:sldId id="729" r:id="rId15"/>
    <p:sldId id="723" r:id="rId16"/>
    <p:sldId id="30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97B0"/>
    <a:srgbClr val="333F5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p:scale>
          <a:sx n="75" d="100"/>
          <a:sy n="75" d="100"/>
        </p:scale>
        <p:origin x="158" y="144"/>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19-01-2026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8</a:t>
            </a:fld>
            <a:endParaRPr lang="en-IN" dirty="0"/>
          </a:p>
        </p:txBody>
      </p:sp>
    </p:spTree>
    <p:extLst>
      <p:ext uri="{BB962C8B-B14F-4D97-AF65-F5344CB8AC3E}">
        <p14:creationId xmlns:p14="http://schemas.microsoft.com/office/powerpoint/2010/main" val="1797883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5A4AD-D577-BFB1-7B87-CE815868C0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FAFE3-9688-097A-81B4-AF0A18FDDA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713A1F-6A19-1A1D-2945-DC8D7A8CF61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E1B3092-8170-6275-FC81-5D63034190DE}"/>
              </a:ext>
            </a:extLst>
          </p:cNvPr>
          <p:cNvSpPr>
            <a:spLocks noGrp="1"/>
          </p:cNvSpPr>
          <p:nvPr>
            <p:ph type="sldNum" sz="quarter" idx="5"/>
          </p:nvPr>
        </p:nvSpPr>
        <p:spPr/>
        <p:txBody>
          <a:bodyPr/>
          <a:lstStyle/>
          <a:p>
            <a:fld id="{47FFB008-8E38-46F5-BCB9-8CFEF233CF3A}" type="slidenum">
              <a:rPr lang="en-IN" smtClean="0"/>
              <a:t>9</a:t>
            </a:fld>
            <a:endParaRPr lang="en-IN" dirty="0"/>
          </a:p>
        </p:txBody>
      </p:sp>
    </p:spTree>
    <p:extLst>
      <p:ext uri="{BB962C8B-B14F-4D97-AF65-F5344CB8AC3E}">
        <p14:creationId xmlns:p14="http://schemas.microsoft.com/office/powerpoint/2010/main" val="3143236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11</a:t>
            </a:fld>
            <a:endParaRPr lang="en-IN" dirty="0"/>
          </a:p>
        </p:txBody>
      </p:sp>
    </p:spTree>
    <p:extLst>
      <p:ext uri="{BB962C8B-B14F-4D97-AF65-F5344CB8AC3E}">
        <p14:creationId xmlns:p14="http://schemas.microsoft.com/office/powerpoint/2010/main" val="16514490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0" y="3308054"/>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latin typeface="Calibri" panose="020F0502020204030204" pitchFamily="34" charset="0"/>
              </a:rPr>
              <a:t>Employee Retention Prediction</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a:solidFill>
            <a:schemeClr val="accent5">
              <a:lumMod val="20000"/>
              <a:lumOff val="80000"/>
            </a:schemeClr>
          </a:solidFill>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4" y="1675075"/>
            <a:ext cx="5147984" cy="4061696"/>
          </a:xfrm>
        </p:spPr>
        <p:txBody>
          <a:bodyPr>
            <a:normAutofit fontScale="92500" lnSpcReduction="10000"/>
          </a:bodyPr>
          <a:lstStyle/>
          <a:p>
            <a:r>
              <a:rPr lang="en-US" dirty="0">
                <a:latin typeface="Aptos" panose="020B0004020202020204" pitchFamily="34" charset="0"/>
              </a:rPr>
              <a:t>Introduction</a:t>
            </a:r>
          </a:p>
          <a:p>
            <a:r>
              <a:rPr lang="en-US" dirty="0">
                <a:latin typeface="Aptos" panose="020B0004020202020204" pitchFamily="34" charset="0"/>
              </a:rPr>
              <a:t>Objective </a:t>
            </a:r>
          </a:p>
          <a:p>
            <a:r>
              <a:rPr lang="en-US" dirty="0">
                <a:latin typeface="Aptos" panose="020B0004020202020204" pitchFamily="34" charset="0"/>
              </a:rPr>
              <a:t>Data Understanding </a:t>
            </a:r>
          </a:p>
          <a:p>
            <a:r>
              <a:rPr lang="en-US" dirty="0">
                <a:latin typeface="Aptos" panose="020B0004020202020204" pitchFamily="34" charset="0"/>
              </a:rPr>
              <a:t>Data Preprocessing</a:t>
            </a:r>
          </a:p>
          <a:p>
            <a:r>
              <a:rPr lang="en-US" dirty="0">
                <a:latin typeface="Aptos" panose="020B0004020202020204" pitchFamily="34" charset="0"/>
              </a:rPr>
              <a:t>EDA (Exploratory Data Analysis)</a:t>
            </a:r>
          </a:p>
          <a:p>
            <a:r>
              <a:rPr lang="en-US" dirty="0">
                <a:latin typeface="Aptos" panose="020B0004020202020204" pitchFamily="34" charset="0"/>
              </a:rPr>
              <a:t>Model Selection</a:t>
            </a:r>
          </a:p>
          <a:p>
            <a:r>
              <a:rPr lang="en-US" dirty="0">
                <a:latin typeface="Aptos" panose="020B0004020202020204" pitchFamily="34" charset="0"/>
              </a:rPr>
              <a:t>Model Evaluation </a:t>
            </a:r>
          </a:p>
          <a:p>
            <a:r>
              <a:rPr lang="en-US" dirty="0"/>
              <a:t>Model Deployment with </a:t>
            </a:r>
            <a:r>
              <a:rPr lang="en-US" dirty="0" err="1"/>
              <a:t>Streamlit</a:t>
            </a:r>
            <a:endParaRPr lang="en-US" dirty="0">
              <a:latin typeface="Aptos" panose="020B0004020202020204" pitchFamily="34" charset="0"/>
            </a:endParaRPr>
          </a:p>
          <a:p>
            <a:r>
              <a:rPr lang="en-US" dirty="0">
                <a:latin typeface="Aptos" panose="020B0004020202020204" pitchFamily="34" charset="0"/>
              </a:rPr>
              <a:t>Conclusion &amp; Recommendations</a:t>
            </a:r>
            <a:endParaRPr lang="en-IN" dirty="0">
              <a:latin typeface="Aptos" panose="020B0004020202020204" pitchFamily="34" charset="0"/>
            </a:endParaRPr>
          </a:p>
        </p:txBody>
      </p:sp>
      <p:pic>
        <p:nvPicPr>
          <p:cNvPr id="1026" name="Picture 2" descr="3,700+ Employee Retention Stock Photos, Pictures &amp; Royalty ...">
            <a:extLst>
              <a:ext uri="{FF2B5EF4-FFF2-40B4-BE49-F238E27FC236}">
                <a16:creationId xmlns:a16="http://schemas.microsoft.com/office/drawing/2014/main" id="{759896CA-319A-49E7-86BF-EF7937B8E0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7728" y="1780618"/>
            <a:ext cx="4804653" cy="38506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solidFill>
            <a:schemeClr val="accent5">
              <a:lumMod val="20000"/>
              <a:lumOff val="80000"/>
            </a:schemeClr>
          </a:solidFill>
        </p:spPr>
        <p:txBody>
          <a:bodyPr/>
          <a:lstStyle/>
          <a:p>
            <a:r>
              <a:rPr lang="en-IN" dirty="0"/>
              <a:t>Introduction (Project Overview)</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5" y="1675075"/>
            <a:ext cx="5488452" cy="3952839"/>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a:lnSpc>
                <a:spcPct val="100000"/>
              </a:lnSpc>
            </a:pPr>
            <a:r>
              <a:rPr lang="en-US" b="1" dirty="0">
                <a:latin typeface="Aptos" panose="020B0004020202020204" pitchFamily="34" charset="0"/>
              </a:rPr>
              <a:t>Focus:</a:t>
            </a:r>
            <a:r>
              <a:rPr lang="en-US" dirty="0">
                <a:latin typeface="Aptos" panose="020B0004020202020204" pitchFamily="34" charset="0"/>
              </a:rPr>
              <a:t> Predicting job change likelihood among data scientists</a:t>
            </a:r>
          </a:p>
          <a:p>
            <a:pPr>
              <a:lnSpc>
                <a:spcPct val="100000"/>
              </a:lnSpc>
            </a:pPr>
            <a:r>
              <a:rPr lang="en-US" b="1" dirty="0">
                <a:latin typeface="Aptos" panose="020B0004020202020204" pitchFamily="34" charset="0"/>
              </a:rPr>
              <a:t>Why:</a:t>
            </a:r>
            <a:r>
              <a:rPr lang="en-US" dirty="0">
                <a:latin typeface="Aptos" panose="020B0004020202020204" pitchFamily="34" charset="0"/>
              </a:rPr>
              <a:t> High attrition disrupts projects, increases costs</a:t>
            </a:r>
          </a:p>
          <a:p>
            <a:pPr>
              <a:lnSpc>
                <a:spcPct val="100000"/>
              </a:lnSpc>
            </a:pPr>
            <a:r>
              <a:rPr lang="en-US" b="1" dirty="0">
                <a:latin typeface="Aptos" panose="020B0004020202020204" pitchFamily="34" charset="0"/>
              </a:rPr>
              <a:t>How: </a:t>
            </a:r>
            <a:r>
              <a:rPr lang="en-US" dirty="0">
                <a:latin typeface="Aptos" panose="020B0004020202020204" pitchFamily="34" charset="0"/>
              </a:rPr>
              <a:t>Data-driven prediction using employee attributes</a:t>
            </a:r>
          </a:p>
          <a:p>
            <a:pPr>
              <a:lnSpc>
                <a:spcPct val="100000"/>
              </a:lnSpc>
            </a:pPr>
            <a:r>
              <a:rPr lang="en-US" b="1" dirty="0">
                <a:latin typeface="Aptos" panose="020B0004020202020204" pitchFamily="34" charset="0"/>
              </a:rPr>
              <a:t>Goal: </a:t>
            </a:r>
            <a:r>
              <a:rPr lang="en-US" dirty="0">
                <a:latin typeface="Aptos" panose="020B0004020202020204" pitchFamily="34" charset="0"/>
              </a:rPr>
              <a:t>Support HR in proactive retention strategies</a:t>
            </a:r>
          </a:p>
        </p:txBody>
      </p:sp>
      <p:sp>
        <p:nvSpPr>
          <p:cNvPr id="4" name="AutoShape 2" descr="Free Cliparts Project Introduction ...">
            <a:extLst>
              <a:ext uri="{FF2B5EF4-FFF2-40B4-BE49-F238E27FC236}">
                <a16:creationId xmlns:a16="http://schemas.microsoft.com/office/drawing/2014/main" id="{DD981131-287A-498E-9EB0-BCAAD3561C7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2" name="Picture 4" descr="Free Cliparts Project Introduction ...">
            <a:extLst>
              <a:ext uri="{FF2B5EF4-FFF2-40B4-BE49-F238E27FC236}">
                <a16:creationId xmlns:a16="http://schemas.microsoft.com/office/drawing/2014/main" id="{9680F0DF-E45A-4128-A932-626FF62E07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2155" y="2130965"/>
            <a:ext cx="5121309" cy="2596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F9895-50F9-7DE3-2050-323A3E8E6E3C}"/>
              </a:ext>
            </a:extLst>
          </p:cNvPr>
          <p:cNvSpPr>
            <a:spLocks noGrp="1"/>
          </p:cNvSpPr>
          <p:nvPr>
            <p:ph type="title"/>
          </p:nvPr>
        </p:nvSpPr>
        <p:spPr>
          <a:solidFill>
            <a:schemeClr val="accent5">
              <a:lumMod val="20000"/>
              <a:lumOff val="80000"/>
            </a:schemeClr>
          </a:solidFill>
        </p:spPr>
        <p:txBody>
          <a:bodyPr/>
          <a:lstStyle/>
          <a:p>
            <a:r>
              <a:rPr lang="en-IN" dirty="0"/>
              <a:t>Objectives</a:t>
            </a:r>
          </a:p>
        </p:txBody>
      </p:sp>
      <p:sp>
        <p:nvSpPr>
          <p:cNvPr id="3" name="Content Placeholder 2">
            <a:extLst>
              <a:ext uri="{FF2B5EF4-FFF2-40B4-BE49-F238E27FC236}">
                <a16:creationId xmlns:a16="http://schemas.microsoft.com/office/drawing/2014/main" id="{F6B8DEF2-B7D9-0381-7737-61E0E0792CEB}"/>
              </a:ext>
            </a:extLst>
          </p:cNvPr>
          <p:cNvSpPr>
            <a:spLocks noGrp="1"/>
          </p:cNvSpPr>
          <p:nvPr>
            <p:ph idx="1"/>
          </p:nvPr>
        </p:nvSpPr>
        <p:spPr>
          <a:xfrm>
            <a:off x="678884" y="1543012"/>
            <a:ext cx="4750254" cy="4476788"/>
          </a:xfrm>
        </p:spPr>
        <p:txBody>
          <a:bodyPr>
            <a:normAutofit fontScale="92500"/>
          </a:bodyPr>
          <a:lstStyle/>
          <a:p>
            <a:pPr>
              <a:lnSpc>
                <a:spcPct val="110000"/>
              </a:lnSpc>
            </a:pPr>
            <a:r>
              <a:rPr lang="en-US" dirty="0">
                <a:latin typeface="Aptos" panose="020B0004020202020204" pitchFamily="34" charset="0"/>
              </a:rPr>
              <a:t>Predict the probability of an employee seeking a job change.</a:t>
            </a:r>
          </a:p>
          <a:p>
            <a:pPr>
              <a:lnSpc>
                <a:spcPct val="110000"/>
              </a:lnSpc>
            </a:pPr>
            <a:r>
              <a:rPr lang="en-US" dirty="0">
                <a:latin typeface="Aptos" panose="020B0004020202020204" pitchFamily="34" charset="0"/>
              </a:rPr>
              <a:t>Identify top factors influencing job change decisions.</a:t>
            </a:r>
          </a:p>
          <a:p>
            <a:pPr>
              <a:lnSpc>
                <a:spcPct val="110000"/>
              </a:lnSpc>
            </a:pPr>
            <a:r>
              <a:rPr lang="en-US" dirty="0">
                <a:latin typeface="Aptos" panose="020B0004020202020204" pitchFamily="34" charset="0"/>
              </a:rPr>
              <a:t>Build a model with optimal accuracy and generalization.</a:t>
            </a:r>
          </a:p>
          <a:p>
            <a:pPr>
              <a:lnSpc>
                <a:spcPct val="110000"/>
              </a:lnSpc>
            </a:pPr>
            <a:r>
              <a:rPr lang="en-US" dirty="0">
                <a:latin typeface="Aptos" panose="020B0004020202020204" pitchFamily="34" charset="0"/>
              </a:rPr>
              <a:t>Provide actionable insights for retention planning.</a:t>
            </a:r>
          </a:p>
        </p:txBody>
      </p:sp>
      <p:pic>
        <p:nvPicPr>
          <p:cNvPr id="3076" name="Picture 4" descr="14 Resume Objective Examples &amp; Writing ...">
            <a:extLst>
              <a:ext uri="{FF2B5EF4-FFF2-40B4-BE49-F238E27FC236}">
                <a16:creationId xmlns:a16="http://schemas.microsoft.com/office/drawing/2014/main" id="{25B2A950-7257-4343-8D1D-4FF483B61E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6058" y="1634315"/>
            <a:ext cx="5777058" cy="3842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2226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2D6F7-D535-7202-7D00-2B6846757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25186-E9F1-EB7E-5FD9-18590AEC8E31}"/>
              </a:ext>
            </a:extLst>
          </p:cNvPr>
          <p:cNvSpPr>
            <a:spLocks noGrp="1"/>
          </p:cNvSpPr>
          <p:nvPr>
            <p:ph type="title"/>
          </p:nvPr>
        </p:nvSpPr>
        <p:spPr>
          <a:xfrm>
            <a:off x="678884" y="541110"/>
            <a:ext cx="10834234" cy="612775"/>
          </a:xfrm>
          <a:solidFill>
            <a:schemeClr val="accent5">
              <a:lumMod val="20000"/>
              <a:lumOff val="80000"/>
            </a:schemeClr>
          </a:solidFill>
        </p:spPr>
        <p:txBody>
          <a:bodyPr/>
          <a:lstStyle/>
          <a:p>
            <a:r>
              <a:rPr lang="en-IN" dirty="0"/>
              <a:t>Data Acquisition</a:t>
            </a:r>
          </a:p>
        </p:txBody>
      </p:sp>
      <p:sp>
        <p:nvSpPr>
          <p:cNvPr id="3" name="Content Placeholder 2">
            <a:extLst>
              <a:ext uri="{FF2B5EF4-FFF2-40B4-BE49-F238E27FC236}">
                <a16:creationId xmlns:a16="http://schemas.microsoft.com/office/drawing/2014/main" id="{6F5B1CA3-A7C9-23EC-C46C-51BE35722F54}"/>
              </a:ext>
            </a:extLst>
          </p:cNvPr>
          <p:cNvSpPr>
            <a:spLocks noGrp="1"/>
          </p:cNvSpPr>
          <p:nvPr>
            <p:ph idx="1"/>
          </p:nvPr>
        </p:nvSpPr>
        <p:spPr>
          <a:xfrm>
            <a:off x="180584" y="1523999"/>
            <a:ext cx="4894602" cy="4137896"/>
          </a:xfrm>
        </p:spPr>
        <p:txBody>
          <a:bodyPr>
            <a:noAutofit/>
          </a:bodyPr>
          <a:lstStyle/>
          <a:p>
            <a:pPr>
              <a:lnSpc>
                <a:spcPct val="110000"/>
              </a:lnSpc>
              <a:buFont typeface="Wingdings" panose="05000000000000000000" pitchFamily="2" charset="2"/>
              <a:buChar char="v"/>
            </a:pPr>
            <a:r>
              <a:rPr lang="en-US" sz="2000" dirty="0">
                <a:latin typeface="Aptos" panose="020B0004020202020204" pitchFamily="34" charset="0"/>
              </a:rPr>
              <a:t> </a:t>
            </a:r>
            <a:r>
              <a:rPr lang="en-US" sz="2000" b="1" dirty="0">
                <a:latin typeface="Aptos" panose="020B0004020202020204" pitchFamily="34" charset="0"/>
              </a:rPr>
              <a:t>Dataset:</a:t>
            </a:r>
            <a:r>
              <a:rPr lang="en-US" sz="2000" dirty="0">
                <a:latin typeface="Aptos" panose="020B0004020202020204" pitchFamily="34" charset="0"/>
              </a:rPr>
              <a:t> Employee profiles with multiple features (experience, training, company size, etc.)</a:t>
            </a:r>
          </a:p>
          <a:p>
            <a:pPr>
              <a:lnSpc>
                <a:spcPct val="110000"/>
              </a:lnSpc>
              <a:buFont typeface="Wingdings" panose="05000000000000000000" pitchFamily="2" charset="2"/>
              <a:buChar char="v"/>
            </a:pPr>
            <a:r>
              <a:rPr lang="en-US" sz="2000" b="1" dirty="0">
                <a:latin typeface="Aptos" panose="020B0004020202020204" pitchFamily="34" charset="0"/>
              </a:rPr>
              <a:t>Target variable: </a:t>
            </a:r>
          </a:p>
          <a:p>
            <a:pPr>
              <a:lnSpc>
                <a:spcPct val="110000"/>
              </a:lnSpc>
            </a:pPr>
            <a:r>
              <a:rPr lang="en-US" sz="2000" b="1" dirty="0">
                <a:latin typeface="Aptos" panose="020B0004020202020204" pitchFamily="34" charset="0"/>
              </a:rPr>
              <a:t>1</a:t>
            </a:r>
            <a:r>
              <a:rPr lang="en-US" sz="2000" dirty="0">
                <a:latin typeface="Aptos" panose="020B0004020202020204" pitchFamily="34" charset="0"/>
              </a:rPr>
              <a:t>: </a:t>
            </a:r>
            <a:r>
              <a:rPr lang="en-IN" sz="2000" i="1" dirty="0">
                <a:latin typeface="Aptos" panose="020B0004020202020204" pitchFamily="34" charset="0"/>
              </a:rPr>
              <a:t>Employee is not likely to change jobs</a:t>
            </a:r>
          </a:p>
          <a:p>
            <a:pPr>
              <a:lnSpc>
                <a:spcPct val="110000"/>
              </a:lnSpc>
            </a:pPr>
            <a:r>
              <a:rPr lang="en-IN" sz="2000" b="1" dirty="0">
                <a:latin typeface="Aptos" panose="020B0004020202020204" pitchFamily="34" charset="0"/>
              </a:rPr>
              <a:t>0</a:t>
            </a:r>
            <a:r>
              <a:rPr lang="en-IN" sz="2000" dirty="0">
                <a:latin typeface="Aptos" panose="020B0004020202020204" pitchFamily="34" charset="0"/>
              </a:rPr>
              <a:t>: </a:t>
            </a:r>
            <a:r>
              <a:rPr lang="en-IN" sz="2000" i="1" dirty="0">
                <a:latin typeface="Aptos" panose="020B0004020202020204" pitchFamily="34" charset="0"/>
              </a:rPr>
              <a:t>Employee is not likely to change jobs</a:t>
            </a:r>
            <a:endParaRPr lang="en-US" sz="2000" dirty="0">
              <a:latin typeface="Aptos" panose="020B0004020202020204" pitchFamily="34" charset="0"/>
            </a:endParaRPr>
          </a:p>
          <a:p>
            <a:pPr>
              <a:lnSpc>
                <a:spcPct val="110000"/>
              </a:lnSpc>
              <a:buFont typeface="Wingdings" panose="05000000000000000000" pitchFamily="2" charset="2"/>
              <a:buChar char="v"/>
            </a:pPr>
            <a:r>
              <a:rPr lang="en-US" sz="2000" b="1" dirty="0">
                <a:latin typeface="Aptos" panose="020B0004020202020204" pitchFamily="34" charset="0"/>
              </a:rPr>
              <a:t>Variables:</a:t>
            </a:r>
            <a:r>
              <a:rPr lang="en-US" sz="2000" dirty="0">
                <a:latin typeface="Aptos" panose="020B0004020202020204" pitchFamily="34" charset="0"/>
              </a:rPr>
              <a:t> Mix of categorical &amp; numerical</a:t>
            </a:r>
          </a:p>
          <a:p>
            <a:pPr>
              <a:lnSpc>
                <a:spcPct val="110000"/>
              </a:lnSpc>
              <a:buFont typeface="Wingdings" panose="05000000000000000000" pitchFamily="2" charset="2"/>
              <a:buChar char="v"/>
            </a:pPr>
            <a:r>
              <a:rPr lang="en-US" sz="2000" b="1" dirty="0">
                <a:latin typeface="Aptos" panose="020B0004020202020204" pitchFamily="34" charset="0"/>
              </a:rPr>
              <a:t>Size: </a:t>
            </a:r>
          </a:p>
          <a:p>
            <a:pPr>
              <a:lnSpc>
                <a:spcPct val="110000"/>
              </a:lnSpc>
            </a:pPr>
            <a:r>
              <a:rPr lang="en-US" sz="2000" dirty="0">
                <a:latin typeface="Aptos" panose="020B0004020202020204" pitchFamily="34" charset="0"/>
              </a:rPr>
              <a:t>Rows: 19,158</a:t>
            </a:r>
          </a:p>
          <a:p>
            <a:pPr>
              <a:lnSpc>
                <a:spcPct val="110000"/>
              </a:lnSpc>
            </a:pPr>
            <a:r>
              <a:rPr lang="en-US" sz="2000" dirty="0">
                <a:latin typeface="Aptos" panose="020B0004020202020204" pitchFamily="34" charset="0"/>
              </a:rPr>
              <a:t>Columns: 14</a:t>
            </a:r>
          </a:p>
          <a:p>
            <a:pPr>
              <a:lnSpc>
                <a:spcPct val="110000"/>
              </a:lnSpc>
              <a:buFont typeface="Wingdings" panose="05000000000000000000" pitchFamily="2" charset="2"/>
              <a:buChar char="v"/>
            </a:pPr>
            <a:endParaRPr lang="en-IN" sz="2000" dirty="0">
              <a:latin typeface="Aptos" panose="020B0004020202020204" pitchFamily="34" charset="0"/>
            </a:endParaRPr>
          </a:p>
        </p:txBody>
      </p:sp>
      <p:pic>
        <p:nvPicPr>
          <p:cNvPr id="8" name="Picture 7">
            <a:extLst>
              <a:ext uri="{FF2B5EF4-FFF2-40B4-BE49-F238E27FC236}">
                <a16:creationId xmlns:a16="http://schemas.microsoft.com/office/drawing/2014/main" id="{FC30AAC2-70B8-7376-2F76-EB46FEBC7CAD}"/>
              </a:ext>
            </a:extLst>
          </p:cNvPr>
          <p:cNvPicPr>
            <a:picLocks noChangeAspect="1"/>
          </p:cNvPicPr>
          <p:nvPr/>
        </p:nvPicPr>
        <p:blipFill>
          <a:blip r:embed="rId2"/>
          <a:stretch>
            <a:fillRect/>
          </a:stretch>
        </p:blipFill>
        <p:spPr>
          <a:xfrm>
            <a:off x="4896056" y="1523999"/>
            <a:ext cx="7115360" cy="3731395"/>
          </a:xfrm>
          <a:prstGeom prst="rect">
            <a:avLst/>
          </a:prstGeom>
          <a:ln>
            <a:solidFill>
              <a:srgbClr val="8497B0"/>
            </a:solidFill>
          </a:ln>
        </p:spPr>
      </p:pic>
    </p:spTree>
    <p:extLst>
      <p:ext uri="{BB962C8B-B14F-4D97-AF65-F5344CB8AC3E}">
        <p14:creationId xmlns:p14="http://schemas.microsoft.com/office/powerpoint/2010/main" val="2048740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4953A3-91DA-4007-814C-C74B03D89293}"/>
              </a:ext>
            </a:extLst>
          </p:cNvPr>
          <p:cNvSpPr txBox="1"/>
          <p:nvPr/>
        </p:nvSpPr>
        <p:spPr>
          <a:xfrm flipH="1">
            <a:off x="766266" y="1338131"/>
            <a:ext cx="3030099" cy="584775"/>
          </a:xfrm>
          <a:prstGeom prst="rect">
            <a:avLst/>
          </a:prstGeom>
          <a:noFill/>
        </p:spPr>
        <p:txBody>
          <a:bodyPr wrap="square" rtlCol="0">
            <a:spAutoFit/>
          </a:bodyPr>
          <a:lstStyle/>
          <a:p>
            <a:r>
              <a:rPr lang="en-US" sz="3200" b="1" i="1" dirty="0"/>
              <a:t>Import Libraries</a:t>
            </a:r>
          </a:p>
        </p:txBody>
      </p:sp>
      <p:sp>
        <p:nvSpPr>
          <p:cNvPr id="6" name="TextBox 5">
            <a:extLst>
              <a:ext uri="{FF2B5EF4-FFF2-40B4-BE49-F238E27FC236}">
                <a16:creationId xmlns:a16="http://schemas.microsoft.com/office/drawing/2014/main" id="{B523554E-A7AD-4790-A4AC-32589823BFBB}"/>
              </a:ext>
            </a:extLst>
          </p:cNvPr>
          <p:cNvSpPr txBox="1"/>
          <p:nvPr/>
        </p:nvSpPr>
        <p:spPr>
          <a:xfrm flipH="1">
            <a:off x="8570733" y="1323578"/>
            <a:ext cx="2415119" cy="584775"/>
          </a:xfrm>
          <a:prstGeom prst="rect">
            <a:avLst/>
          </a:prstGeom>
          <a:noFill/>
        </p:spPr>
        <p:txBody>
          <a:bodyPr wrap="square" rtlCol="0">
            <a:spAutoFit/>
          </a:bodyPr>
          <a:lstStyle/>
          <a:p>
            <a:r>
              <a:rPr lang="en-US" sz="3200" b="1" i="1" dirty="0"/>
              <a:t>Explore Data</a:t>
            </a:r>
          </a:p>
        </p:txBody>
      </p:sp>
      <p:sp>
        <p:nvSpPr>
          <p:cNvPr id="7" name="TextBox 6">
            <a:extLst>
              <a:ext uri="{FF2B5EF4-FFF2-40B4-BE49-F238E27FC236}">
                <a16:creationId xmlns:a16="http://schemas.microsoft.com/office/drawing/2014/main" id="{DA7BAFC4-652A-4940-BEA2-2C0641A957A1}"/>
              </a:ext>
            </a:extLst>
          </p:cNvPr>
          <p:cNvSpPr txBox="1"/>
          <p:nvPr/>
        </p:nvSpPr>
        <p:spPr>
          <a:xfrm flipH="1">
            <a:off x="766266" y="2702670"/>
            <a:ext cx="2587154" cy="584775"/>
          </a:xfrm>
          <a:prstGeom prst="rect">
            <a:avLst/>
          </a:prstGeom>
          <a:noFill/>
        </p:spPr>
        <p:txBody>
          <a:bodyPr wrap="square" rtlCol="0">
            <a:spAutoFit/>
          </a:bodyPr>
          <a:lstStyle/>
          <a:p>
            <a:r>
              <a:rPr lang="en-US" sz="3200" b="1" i="1" dirty="0"/>
              <a:t>Data Cleaning</a:t>
            </a:r>
          </a:p>
        </p:txBody>
      </p:sp>
      <p:sp>
        <p:nvSpPr>
          <p:cNvPr id="8" name="TextBox 7">
            <a:extLst>
              <a:ext uri="{FF2B5EF4-FFF2-40B4-BE49-F238E27FC236}">
                <a16:creationId xmlns:a16="http://schemas.microsoft.com/office/drawing/2014/main" id="{838873D7-E776-4095-A05B-ADB14BC60B85}"/>
              </a:ext>
            </a:extLst>
          </p:cNvPr>
          <p:cNvSpPr txBox="1"/>
          <p:nvPr/>
        </p:nvSpPr>
        <p:spPr>
          <a:xfrm flipH="1">
            <a:off x="4255287" y="2706415"/>
            <a:ext cx="4055794" cy="584775"/>
          </a:xfrm>
          <a:prstGeom prst="rect">
            <a:avLst/>
          </a:prstGeom>
          <a:noFill/>
        </p:spPr>
        <p:txBody>
          <a:bodyPr wrap="square" rtlCol="0">
            <a:spAutoFit/>
          </a:bodyPr>
          <a:lstStyle/>
          <a:p>
            <a:r>
              <a:rPr lang="en-US" sz="3200" b="1" i="1" dirty="0"/>
              <a:t>Handle Missing Values</a:t>
            </a:r>
          </a:p>
        </p:txBody>
      </p:sp>
      <p:sp>
        <p:nvSpPr>
          <p:cNvPr id="9" name="TextBox 8">
            <a:extLst>
              <a:ext uri="{FF2B5EF4-FFF2-40B4-BE49-F238E27FC236}">
                <a16:creationId xmlns:a16="http://schemas.microsoft.com/office/drawing/2014/main" id="{9E4E249B-E5ED-4AB1-BD4C-CBA77624CD3C}"/>
              </a:ext>
            </a:extLst>
          </p:cNvPr>
          <p:cNvSpPr txBox="1"/>
          <p:nvPr/>
        </p:nvSpPr>
        <p:spPr>
          <a:xfrm flipH="1">
            <a:off x="8570733" y="2720506"/>
            <a:ext cx="2587152" cy="584775"/>
          </a:xfrm>
          <a:prstGeom prst="rect">
            <a:avLst/>
          </a:prstGeom>
          <a:noFill/>
        </p:spPr>
        <p:txBody>
          <a:bodyPr wrap="square" rtlCol="0">
            <a:spAutoFit/>
          </a:bodyPr>
          <a:lstStyle/>
          <a:p>
            <a:r>
              <a:rPr lang="en-US" sz="3200" b="1" i="1" dirty="0"/>
              <a:t>Visualization</a:t>
            </a:r>
          </a:p>
        </p:txBody>
      </p:sp>
      <p:sp>
        <p:nvSpPr>
          <p:cNvPr id="12" name="TextBox 11">
            <a:extLst>
              <a:ext uri="{FF2B5EF4-FFF2-40B4-BE49-F238E27FC236}">
                <a16:creationId xmlns:a16="http://schemas.microsoft.com/office/drawing/2014/main" id="{E9EBE95F-ED8A-47D2-ADA1-EE08B46E0ADD}"/>
              </a:ext>
            </a:extLst>
          </p:cNvPr>
          <p:cNvSpPr txBox="1"/>
          <p:nvPr/>
        </p:nvSpPr>
        <p:spPr>
          <a:xfrm flipH="1">
            <a:off x="678882" y="4285083"/>
            <a:ext cx="3792980" cy="584775"/>
          </a:xfrm>
          <a:prstGeom prst="rect">
            <a:avLst/>
          </a:prstGeom>
          <a:noFill/>
        </p:spPr>
        <p:txBody>
          <a:bodyPr wrap="square" rtlCol="0">
            <a:spAutoFit/>
          </a:bodyPr>
          <a:lstStyle/>
          <a:p>
            <a:r>
              <a:rPr lang="en-US" sz="3200" b="1" i="1" dirty="0"/>
              <a:t>Split Into Train &amp; Test</a:t>
            </a:r>
          </a:p>
        </p:txBody>
      </p:sp>
      <p:sp>
        <p:nvSpPr>
          <p:cNvPr id="13" name="TextBox 12">
            <a:extLst>
              <a:ext uri="{FF2B5EF4-FFF2-40B4-BE49-F238E27FC236}">
                <a16:creationId xmlns:a16="http://schemas.microsoft.com/office/drawing/2014/main" id="{06DA9F4E-395A-4EB3-B583-1FD00144E47B}"/>
              </a:ext>
            </a:extLst>
          </p:cNvPr>
          <p:cNvSpPr txBox="1"/>
          <p:nvPr/>
        </p:nvSpPr>
        <p:spPr>
          <a:xfrm flipH="1">
            <a:off x="4981148" y="4297577"/>
            <a:ext cx="2878061" cy="584775"/>
          </a:xfrm>
          <a:prstGeom prst="rect">
            <a:avLst/>
          </a:prstGeom>
          <a:noFill/>
        </p:spPr>
        <p:txBody>
          <a:bodyPr wrap="square" rtlCol="0">
            <a:spAutoFit/>
          </a:bodyPr>
          <a:lstStyle/>
          <a:p>
            <a:r>
              <a:rPr lang="en-US" sz="3200" b="1" i="1" dirty="0"/>
              <a:t>Model Building</a:t>
            </a:r>
          </a:p>
        </p:txBody>
      </p:sp>
      <p:sp>
        <p:nvSpPr>
          <p:cNvPr id="14" name="TextBox 13">
            <a:extLst>
              <a:ext uri="{FF2B5EF4-FFF2-40B4-BE49-F238E27FC236}">
                <a16:creationId xmlns:a16="http://schemas.microsoft.com/office/drawing/2014/main" id="{36CB9571-6C6D-499F-91D2-F03581DCE007}"/>
              </a:ext>
            </a:extLst>
          </p:cNvPr>
          <p:cNvSpPr txBox="1"/>
          <p:nvPr/>
        </p:nvSpPr>
        <p:spPr>
          <a:xfrm flipH="1">
            <a:off x="4471862" y="1323579"/>
            <a:ext cx="2584584" cy="584775"/>
          </a:xfrm>
          <a:prstGeom prst="rect">
            <a:avLst/>
          </a:prstGeom>
          <a:noFill/>
        </p:spPr>
        <p:txBody>
          <a:bodyPr wrap="square" rtlCol="0">
            <a:spAutoFit/>
          </a:bodyPr>
          <a:lstStyle/>
          <a:p>
            <a:r>
              <a:rPr lang="en-US" sz="3200" b="1" i="1" dirty="0"/>
              <a:t>Load Dataset</a:t>
            </a:r>
          </a:p>
        </p:txBody>
      </p:sp>
      <p:sp>
        <p:nvSpPr>
          <p:cNvPr id="15" name="TextBox 14">
            <a:extLst>
              <a:ext uri="{FF2B5EF4-FFF2-40B4-BE49-F238E27FC236}">
                <a16:creationId xmlns:a16="http://schemas.microsoft.com/office/drawing/2014/main" id="{6C684C69-7DB9-42D4-B4EB-62A2CDD28950}"/>
              </a:ext>
            </a:extLst>
          </p:cNvPr>
          <p:cNvSpPr txBox="1"/>
          <p:nvPr/>
        </p:nvSpPr>
        <p:spPr>
          <a:xfrm flipH="1">
            <a:off x="8570733" y="4285082"/>
            <a:ext cx="3195278" cy="584775"/>
          </a:xfrm>
          <a:prstGeom prst="rect">
            <a:avLst/>
          </a:prstGeom>
          <a:noFill/>
        </p:spPr>
        <p:txBody>
          <a:bodyPr wrap="square" rtlCol="0">
            <a:spAutoFit/>
          </a:bodyPr>
          <a:lstStyle/>
          <a:p>
            <a:r>
              <a:rPr lang="en-US" sz="3200" b="1" i="1" dirty="0"/>
              <a:t>Model Evaluation</a:t>
            </a:r>
          </a:p>
        </p:txBody>
      </p:sp>
      <p:sp>
        <p:nvSpPr>
          <p:cNvPr id="18" name="TextBox 17">
            <a:extLst>
              <a:ext uri="{FF2B5EF4-FFF2-40B4-BE49-F238E27FC236}">
                <a16:creationId xmlns:a16="http://schemas.microsoft.com/office/drawing/2014/main" id="{631E2955-F9DA-4B61-9B1B-0BF203441073}"/>
              </a:ext>
            </a:extLst>
          </p:cNvPr>
          <p:cNvSpPr txBox="1"/>
          <p:nvPr/>
        </p:nvSpPr>
        <p:spPr>
          <a:xfrm flipH="1">
            <a:off x="424238" y="223939"/>
            <a:ext cx="6914110" cy="707886"/>
          </a:xfrm>
          <a:prstGeom prst="rect">
            <a:avLst/>
          </a:prstGeom>
          <a:noFill/>
        </p:spPr>
        <p:txBody>
          <a:bodyPr wrap="square" rtlCol="0">
            <a:spAutoFit/>
          </a:bodyPr>
          <a:lstStyle/>
          <a:p>
            <a:r>
              <a:rPr lang="en-US" sz="4000" b="1" dirty="0"/>
              <a:t>Model Development Process</a:t>
            </a:r>
          </a:p>
        </p:txBody>
      </p:sp>
    </p:spTree>
    <p:extLst>
      <p:ext uri="{BB962C8B-B14F-4D97-AF65-F5344CB8AC3E}">
        <p14:creationId xmlns:p14="http://schemas.microsoft.com/office/powerpoint/2010/main" val="1365846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CD48C-0D00-7934-A2BB-3246AA97B9B3}"/>
              </a:ext>
            </a:extLst>
          </p:cNvPr>
          <p:cNvSpPr>
            <a:spLocks noGrp="1"/>
          </p:cNvSpPr>
          <p:nvPr>
            <p:ph type="title"/>
          </p:nvPr>
        </p:nvSpPr>
        <p:spPr>
          <a:xfrm>
            <a:off x="577234" y="160623"/>
            <a:ext cx="10834234" cy="612775"/>
          </a:xfrm>
          <a:solidFill>
            <a:schemeClr val="accent5">
              <a:lumMod val="20000"/>
              <a:lumOff val="80000"/>
            </a:schemeClr>
          </a:solidFill>
        </p:spPr>
        <p:txBody>
          <a:bodyPr>
            <a:noAutofit/>
          </a:bodyPr>
          <a:lstStyle/>
          <a:p>
            <a:r>
              <a:rPr lang="en-IN" sz="4000" dirty="0"/>
              <a:t>Explore Data Analysis (EDA)</a:t>
            </a:r>
            <a:endParaRPr lang="en-IN" sz="4000" i="1" dirty="0"/>
          </a:p>
        </p:txBody>
      </p:sp>
      <p:pic>
        <p:nvPicPr>
          <p:cNvPr id="17" name="Content Placeholder 16">
            <a:extLst>
              <a:ext uri="{FF2B5EF4-FFF2-40B4-BE49-F238E27FC236}">
                <a16:creationId xmlns:a16="http://schemas.microsoft.com/office/drawing/2014/main" id="{A886C900-58C1-9E8F-C8D2-8139320A9CC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78796" y="1067437"/>
            <a:ext cx="3517263" cy="2821457"/>
          </a:xfrm>
          <a:ln>
            <a:solidFill>
              <a:srgbClr val="8497B0"/>
            </a:solidFill>
          </a:ln>
        </p:spPr>
      </p:pic>
      <p:sp>
        <p:nvSpPr>
          <p:cNvPr id="7" name="TextBox 6">
            <a:extLst>
              <a:ext uri="{FF2B5EF4-FFF2-40B4-BE49-F238E27FC236}">
                <a16:creationId xmlns:a16="http://schemas.microsoft.com/office/drawing/2014/main" id="{AC84E2B0-A9C6-1D3E-552A-14B3AF71E4B1}"/>
              </a:ext>
            </a:extLst>
          </p:cNvPr>
          <p:cNvSpPr txBox="1"/>
          <p:nvPr/>
        </p:nvSpPr>
        <p:spPr>
          <a:xfrm>
            <a:off x="132136" y="3888894"/>
            <a:ext cx="6096000" cy="584775"/>
          </a:xfrm>
          <a:prstGeom prst="rect">
            <a:avLst/>
          </a:prstGeom>
          <a:noFill/>
        </p:spPr>
        <p:txBody>
          <a:bodyPr wrap="square">
            <a:spAutoFit/>
          </a:bodyPr>
          <a:lstStyle/>
          <a:p>
            <a:r>
              <a:rPr lang="en-IN" sz="3200" i="1" dirty="0">
                <a:solidFill>
                  <a:schemeClr val="bg1"/>
                </a:solidFill>
              </a:rPr>
              <a:t>UNIVARIATE ANALYSIS</a:t>
            </a:r>
          </a:p>
        </p:txBody>
      </p:sp>
      <p:sp>
        <p:nvSpPr>
          <p:cNvPr id="11" name="TextBox 10">
            <a:extLst>
              <a:ext uri="{FF2B5EF4-FFF2-40B4-BE49-F238E27FC236}">
                <a16:creationId xmlns:a16="http://schemas.microsoft.com/office/drawing/2014/main" id="{E9A3E321-C880-F339-6793-4005BB81E7FA}"/>
              </a:ext>
            </a:extLst>
          </p:cNvPr>
          <p:cNvSpPr txBox="1"/>
          <p:nvPr/>
        </p:nvSpPr>
        <p:spPr>
          <a:xfrm>
            <a:off x="490607" y="4256005"/>
            <a:ext cx="2870660" cy="1298882"/>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en-US" b="1" dirty="0">
                <a:solidFill>
                  <a:schemeClr val="accent2"/>
                </a:solidFill>
                <a:latin typeface="Aptos" panose="020B0004020202020204" pitchFamily="34" charset="0"/>
              </a:rPr>
              <a:t>Job Change Proportion</a:t>
            </a:r>
          </a:p>
          <a:p>
            <a:pPr marL="285750" indent="-285750">
              <a:lnSpc>
                <a:spcPct val="150000"/>
              </a:lnSpc>
              <a:buFont typeface="Arial" panose="020B0604020202020204" pitchFamily="34" charset="0"/>
              <a:buChar char="•"/>
            </a:pPr>
            <a:r>
              <a:rPr lang="en-US" b="1" dirty="0">
                <a:latin typeface="Aptos" panose="020B0004020202020204" pitchFamily="34" charset="0"/>
              </a:rPr>
              <a:t>No Change</a:t>
            </a:r>
            <a:r>
              <a:rPr lang="en-US" dirty="0">
                <a:latin typeface="Aptos" panose="020B0004020202020204" pitchFamily="34" charset="0"/>
              </a:rPr>
              <a:t>: 75.1%</a:t>
            </a:r>
          </a:p>
          <a:p>
            <a:pPr marL="285750" indent="-285750">
              <a:lnSpc>
                <a:spcPct val="150000"/>
              </a:lnSpc>
              <a:buFont typeface="Arial" panose="020B0604020202020204" pitchFamily="34" charset="0"/>
              <a:buChar char="•"/>
            </a:pPr>
            <a:r>
              <a:rPr lang="en-US" b="1" dirty="0">
                <a:latin typeface="Aptos" panose="020B0004020202020204" pitchFamily="34" charset="0"/>
              </a:rPr>
              <a:t>Job Change</a:t>
            </a:r>
            <a:r>
              <a:rPr lang="en-US" dirty="0">
                <a:latin typeface="Aptos" panose="020B0004020202020204" pitchFamily="34" charset="0"/>
              </a:rPr>
              <a:t>: 24.9%</a:t>
            </a:r>
          </a:p>
        </p:txBody>
      </p:sp>
      <p:sp>
        <p:nvSpPr>
          <p:cNvPr id="13" name="TextBox 12">
            <a:extLst>
              <a:ext uri="{FF2B5EF4-FFF2-40B4-BE49-F238E27FC236}">
                <a16:creationId xmlns:a16="http://schemas.microsoft.com/office/drawing/2014/main" id="{03FF44B0-25DC-5067-118E-0CCE61A855A1}"/>
              </a:ext>
            </a:extLst>
          </p:cNvPr>
          <p:cNvSpPr txBox="1"/>
          <p:nvPr/>
        </p:nvSpPr>
        <p:spPr>
          <a:xfrm>
            <a:off x="3845586" y="4253265"/>
            <a:ext cx="3445005" cy="1714380"/>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en-US" b="1" dirty="0">
                <a:solidFill>
                  <a:schemeClr val="accent2"/>
                </a:solidFill>
                <a:latin typeface="Aptos" panose="020B0004020202020204" pitchFamily="34" charset="0"/>
              </a:rPr>
              <a:t>Gender Proportion</a:t>
            </a:r>
          </a:p>
          <a:p>
            <a:pPr marL="285750" indent="-285750">
              <a:lnSpc>
                <a:spcPct val="150000"/>
              </a:lnSpc>
              <a:buFont typeface="Arial" panose="020B0604020202020204" pitchFamily="34" charset="0"/>
              <a:buChar char="•"/>
            </a:pPr>
            <a:r>
              <a:rPr lang="en-US" dirty="0">
                <a:latin typeface="Aptos" panose="020B0004020202020204" pitchFamily="34" charset="0"/>
              </a:rPr>
              <a:t>Male: 92.5% </a:t>
            </a:r>
          </a:p>
          <a:p>
            <a:pPr marL="285750" indent="-285750">
              <a:lnSpc>
                <a:spcPct val="150000"/>
              </a:lnSpc>
              <a:buFont typeface="Arial" panose="020B0604020202020204" pitchFamily="34" charset="0"/>
              <a:buChar char="•"/>
            </a:pPr>
            <a:r>
              <a:rPr lang="en-US" dirty="0">
                <a:latin typeface="Aptos" panose="020B0004020202020204" pitchFamily="34" charset="0"/>
              </a:rPr>
              <a:t>Female: 6.5%</a:t>
            </a:r>
          </a:p>
          <a:p>
            <a:pPr marL="285750" indent="-285750">
              <a:lnSpc>
                <a:spcPct val="150000"/>
              </a:lnSpc>
              <a:buFont typeface="Arial" panose="020B0604020202020204" pitchFamily="34" charset="0"/>
              <a:buChar char="•"/>
            </a:pPr>
            <a:r>
              <a:rPr lang="en-US" dirty="0">
                <a:latin typeface="Aptos" panose="020B0004020202020204" pitchFamily="34" charset="0"/>
              </a:rPr>
              <a:t>Other: 1.0%</a:t>
            </a:r>
          </a:p>
        </p:txBody>
      </p:sp>
      <p:pic>
        <p:nvPicPr>
          <p:cNvPr id="19" name="Picture 18">
            <a:extLst>
              <a:ext uri="{FF2B5EF4-FFF2-40B4-BE49-F238E27FC236}">
                <a16:creationId xmlns:a16="http://schemas.microsoft.com/office/drawing/2014/main" id="{AE8C089B-49F3-EA4A-6B52-953F630BF4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108" y="1074916"/>
            <a:ext cx="3064159" cy="2879571"/>
          </a:xfrm>
          <a:prstGeom prst="rect">
            <a:avLst/>
          </a:prstGeom>
          <a:ln>
            <a:solidFill>
              <a:srgbClr val="8497B0"/>
            </a:solidFill>
          </a:ln>
        </p:spPr>
      </p:pic>
      <p:pic>
        <p:nvPicPr>
          <p:cNvPr id="20" name="Picture 19">
            <a:extLst>
              <a:ext uri="{FF2B5EF4-FFF2-40B4-BE49-F238E27FC236}">
                <a16:creationId xmlns:a16="http://schemas.microsoft.com/office/drawing/2014/main" id="{E1B5C2AD-07CB-9611-6205-B1B73132E8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71249" y="1014376"/>
            <a:ext cx="4123643" cy="2927577"/>
          </a:xfrm>
          <a:prstGeom prst="rect">
            <a:avLst/>
          </a:prstGeom>
          <a:ln>
            <a:solidFill>
              <a:srgbClr val="8497B0"/>
            </a:solidFill>
          </a:ln>
        </p:spPr>
      </p:pic>
      <p:sp>
        <p:nvSpPr>
          <p:cNvPr id="22" name="TextBox 21">
            <a:extLst>
              <a:ext uri="{FF2B5EF4-FFF2-40B4-BE49-F238E27FC236}">
                <a16:creationId xmlns:a16="http://schemas.microsoft.com/office/drawing/2014/main" id="{CB90BB47-9F68-1797-5E4A-CB8AF58F004F}"/>
              </a:ext>
            </a:extLst>
          </p:cNvPr>
          <p:cNvSpPr txBox="1"/>
          <p:nvPr/>
        </p:nvSpPr>
        <p:spPr>
          <a:xfrm>
            <a:off x="7774911" y="4231448"/>
            <a:ext cx="4119981" cy="1323439"/>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1600" b="1" dirty="0">
                <a:solidFill>
                  <a:schemeClr val="accent2"/>
                </a:solidFill>
                <a:latin typeface="Aptos" panose="020B0004020202020204" pitchFamily="34" charset="0"/>
              </a:rPr>
              <a:t>Training Hours Distribution</a:t>
            </a:r>
          </a:p>
          <a:p>
            <a:pPr marL="285750" indent="-285750">
              <a:buFont typeface="Arial" panose="020B0604020202020204" pitchFamily="34" charset="0"/>
              <a:buChar char="•"/>
            </a:pPr>
            <a:r>
              <a:rPr lang="en-US" sz="1600" dirty="0">
                <a:latin typeface="Aptos" panose="020B0004020202020204" pitchFamily="34" charset="0"/>
              </a:rPr>
              <a:t>Skewed distribution — most employees have ≤100 hours of training.</a:t>
            </a:r>
          </a:p>
          <a:p>
            <a:pPr marL="285750" indent="-285750">
              <a:buFont typeface="Arial" panose="020B0604020202020204" pitchFamily="34" charset="0"/>
              <a:buChar char="•"/>
            </a:pPr>
            <a:r>
              <a:rPr lang="en-US" sz="1600" dirty="0">
                <a:latin typeface="Aptos" panose="020B0004020202020204" pitchFamily="34" charset="0"/>
              </a:rPr>
              <a:t>Long tail up to ~350 hours → indicates some high-training outliers.</a:t>
            </a:r>
          </a:p>
        </p:txBody>
      </p:sp>
    </p:spTree>
    <p:extLst>
      <p:ext uri="{BB962C8B-B14F-4D97-AF65-F5344CB8AC3E}">
        <p14:creationId xmlns:p14="http://schemas.microsoft.com/office/powerpoint/2010/main" val="1594365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DB1642-F4EC-40C7-BAEC-509D049FC8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241" y="857103"/>
            <a:ext cx="4584205" cy="3258767"/>
          </a:xfrm>
          <a:prstGeom prst="rect">
            <a:avLst/>
          </a:prstGeom>
        </p:spPr>
      </p:pic>
      <p:pic>
        <p:nvPicPr>
          <p:cNvPr id="7" name="Picture 6">
            <a:extLst>
              <a:ext uri="{FF2B5EF4-FFF2-40B4-BE49-F238E27FC236}">
                <a16:creationId xmlns:a16="http://schemas.microsoft.com/office/drawing/2014/main" id="{51C8E623-C8D7-4114-B4AF-65EE3E3B71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89388" y="807395"/>
            <a:ext cx="4419600" cy="3258767"/>
          </a:xfrm>
          <a:prstGeom prst="rect">
            <a:avLst/>
          </a:prstGeom>
        </p:spPr>
      </p:pic>
      <p:sp>
        <p:nvSpPr>
          <p:cNvPr id="14" name="Rectangle 3">
            <a:extLst>
              <a:ext uri="{FF2B5EF4-FFF2-40B4-BE49-F238E27FC236}">
                <a16:creationId xmlns:a16="http://schemas.microsoft.com/office/drawing/2014/main" id="{05F970D4-20F2-4EFD-9AE4-056E3004510D}"/>
              </a:ext>
            </a:extLst>
          </p:cNvPr>
          <p:cNvSpPr>
            <a:spLocks noChangeArrowheads="1"/>
          </p:cNvSpPr>
          <p:nvPr/>
        </p:nvSpPr>
        <p:spPr bwMode="auto">
          <a:xfrm>
            <a:off x="1083012" y="4173328"/>
            <a:ext cx="3751792"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b="1" dirty="0">
                <a:solidFill>
                  <a:schemeClr val="bg1">
                    <a:lumMod val="50000"/>
                  </a:schemeClr>
                </a:solidFill>
              </a:rPr>
              <a:t>Target Variable Distribution Analysis:-</a:t>
            </a:r>
            <a:endParaRPr kumimoji="0" lang="en-US" altLang="en-US" b="1" i="0" u="none" strike="noStrike" cap="none" normalizeH="0" baseline="0" dirty="0">
              <a:ln>
                <a:noFill/>
              </a:ln>
              <a:solidFill>
                <a:schemeClr val="bg1">
                  <a:lumMod val="5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This chart visualizes the count of employees who want to leave the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Company </a:t>
            </a:r>
            <a:r>
              <a:rPr kumimoji="0" lang="en-US" altLang="en-US" sz="1400" b="1" i="0" u="none" strike="noStrike" cap="none" normalizeH="0" baseline="0" dirty="0">
                <a:ln>
                  <a:noFill/>
                </a:ln>
                <a:solidFill>
                  <a:schemeClr val="tx1"/>
                </a:solidFill>
                <a:effectLst/>
                <a:latin typeface="Arial" panose="020B0604020202020204" pitchFamily="34" charset="0"/>
              </a:rPr>
              <a:t>(</a:t>
            </a:r>
            <a:r>
              <a:rPr kumimoji="0" lang="en-US" altLang="en-US" sz="1400" b="1" i="0" u="none" strike="noStrike" cap="none" normalizeH="0" baseline="0" dirty="0">
                <a:ln>
                  <a:noFill/>
                </a:ln>
                <a:solidFill>
                  <a:schemeClr val="tx1"/>
                </a:solidFill>
                <a:effectLst/>
                <a:latin typeface="Arial Unicode MS"/>
              </a:rPr>
              <a:t>Target 1</a:t>
            </a:r>
            <a:r>
              <a:rPr kumimoji="0" lang="en-US" altLang="en-US" sz="1600" b="1" i="0" u="none" strike="noStrike" cap="none" normalizeH="0" baseline="0" dirty="0">
                <a:ln>
                  <a:noFill/>
                </a:ln>
                <a:solidFill>
                  <a:schemeClr val="tx1"/>
                </a:solidFill>
                <a:effectLst/>
              </a:rPr>
              <a:t>) versus those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rPr>
              <a:t>who want to sta</a:t>
            </a:r>
            <a:r>
              <a:rPr kumimoji="0" lang="en-US" altLang="en-US" sz="1400" b="1" i="0" u="none" strike="noStrike" cap="none" normalizeH="0" baseline="0" dirty="0">
                <a:ln>
                  <a:noFill/>
                </a:ln>
                <a:solidFill>
                  <a:schemeClr val="tx1"/>
                </a:solidFill>
                <a:effectLst/>
              </a:rPr>
              <a:t>y (</a:t>
            </a:r>
            <a:r>
              <a:rPr kumimoji="0" lang="en-US" altLang="en-US" sz="1400" b="1" i="0" u="none" strike="noStrike" cap="none" normalizeH="0" baseline="0" dirty="0">
                <a:ln>
                  <a:noFill/>
                </a:ln>
                <a:solidFill>
                  <a:schemeClr val="tx1"/>
                </a:solidFill>
                <a:effectLst/>
                <a:latin typeface="Arial Unicode MS"/>
              </a:rPr>
              <a:t>Target 0</a:t>
            </a:r>
            <a:r>
              <a:rPr kumimoji="0" lang="en-US" altLang="en-US" sz="1400" b="1" i="0" u="none" strike="noStrike" cap="none" normalizeH="0" baseline="0" dirty="0">
                <a:ln>
                  <a:noFill/>
                </a:ln>
                <a:solidFill>
                  <a:schemeClr val="tx1"/>
                </a:solidFill>
                <a:effectLst/>
              </a:rPr>
              <a:t>). </a:t>
            </a:r>
            <a:endParaRPr kumimoji="0" lang="en-US" altLang="en-US" sz="1400" b="1"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4BDA86F6-6CF6-496D-96A2-130660E1A66F}"/>
              </a:ext>
            </a:extLst>
          </p:cNvPr>
          <p:cNvSpPr>
            <a:spLocks noChangeArrowheads="1"/>
          </p:cNvSpPr>
          <p:nvPr/>
        </p:nvSpPr>
        <p:spPr bwMode="auto">
          <a:xfrm>
            <a:off x="7132320" y="4173328"/>
            <a:ext cx="397666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lumMod val="50000"/>
                  </a:schemeClr>
                </a:solidFill>
                <a:effectLst/>
                <a:latin typeface="Arial" panose="020B0604020202020204" pitchFamily="34" charset="0"/>
              </a:rPr>
              <a:t>Gender vs Job Change:-</a:t>
            </a:r>
          </a:p>
          <a:p>
            <a:pPr marL="0" marR="0" lvl="0" indent="0" algn="l" defTabSz="914400" rtl="0" eaLnBrk="0" fontAlgn="base" latinLnBrk="0" hangingPunct="0">
              <a:lnSpc>
                <a:spcPct val="100000"/>
              </a:lnSpc>
              <a:spcBef>
                <a:spcPct val="0"/>
              </a:spcBef>
              <a:spcAft>
                <a:spcPct val="0"/>
              </a:spcAft>
              <a:buClrTx/>
              <a:buSzTx/>
              <a:buFontTx/>
              <a:buNone/>
              <a:tabLst/>
            </a:pPr>
            <a:r>
              <a:rPr lang="en-US" dirty="0"/>
              <a:t>This analysis compares the job-seeking behavior across different genders (Male, Female, etc.)</a:t>
            </a:r>
            <a:endParaRPr kumimoji="0" lang="en-US" altLang="en-US" b="1" i="0" u="none" strike="noStrike" cap="none" normalizeH="0" baseline="0" dirty="0">
              <a:ln>
                <a:noFill/>
              </a:ln>
              <a:solidFill>
                <a:schemeClr val="bg1">
                  <a:lumMod val="50000"/>
                </a:schemeClr>
              </a:solidFill>
              <a:effectLst/>
              <a:latin typeface="Arial" panose="020B0604020202020204" pitchFamily="34" charset="0"/>
            </a:endParaRPr>
          </a:p>
        </p:txBody>
      </p:sp>
      <p:sp>
        <p:nvSpPr>
          <p:cNvPr id="8" name="Title 3">
            <a:extLst>
              <a:ext uri="{FF2B5EF4-FFF2-40B4-BE49-F238E27FC236}">
                <a16:creationId xmlns:a16="http://schemas.microsoft.com/office/drawing/2014/main" id="{CD16073A-00CB-43D6-A99E-E5F39C69CB0E}"/>
              </a:ext>
            </a:extLst>
          </p:cNvPr>
          <p:cNvSpPr>
            <a:spLocks noGrp="1"/>
          </p:cNvSpPr>
          <p:nvPr>
            <p:ph type="title"/>
          </p:nvPr>
        </p:nvSpPr>
        <p:spPr>
          <a:xfrm>
            <a:off x="766824" y="244328"/>
            <a:ext cx="4177038" cy="612775"/>
          </a:xfrm>
        </p:spPr>
        <p:txBody>
          <a:bodyPr>
            <a:normAutofit/>
          </a:bodyPr>
          <a:lstStyle/>
          <a:p>
            <a:r>
              <a:rPr lang="en-US" dirty="0"/>
              <a:t>Continued…</a:t>
            </a:r>
          </a:p>
        </p:txBody>
      </p:sp>
    </p:spTree>
    <p:extLst>
      <p:ext uri="{BB962C8B-B14F-4D97-AF65-F5344CB8AC3E}">
        <p14:creationId xmlns:p14="http://schemas.microsoft.com/office/powerpoint/2010/main" val="2845992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14BEC-8B3A-00C7-C623-8AC5FACD084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B5C9834-EC65-CA9A-5462-B7994D9B1136}"/>
              </a:ext>
            </a:extLst>
          </p:cNvPr>
          <p:cNvSpPr>
            <a:spLocks noGrp="1"/>
          </p:cNvSpPr>
          <p:nvPr>
            <p:ph type="title"/>
          </p:nvPr>
        </p:nvSpPr>
        <p:spPr>
          <a:xfrm>
            <a:off x="678883" y="172084"/>
            <a:ext cx="10834234" cy="612775"/>
          </a:xfrm>
        </p:spPr>
        <p:txBody>
          <a:bodyPr>
            <a:normAutofit/>
          </a:bodyPr>
          <a:lstStyle/>
          <a:p>
            <a:r>
              <a:rPr lang="en-US" dirty="0"/>
              <a:t>Continued…</a:t>
            </a:r>
          </a:p>
        </p:txBody>
      </p:sp>
      <p:pic>
        <p:nvPicPr>
          <p:cNvPr id="9" name="Picture 8">
            <a:extLst>
              <a:ext uri="{FF2B5EF4-FFF2-40B4-BE49-F238E27FC236}">
                <a16:creationId xmlns:a16="http://schemas.microsoft.com/office/drawing/2014/main" id="{E2999620-1350-CE74-CEAD-76E1343FF5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622" y="917489"/>
            <a:ext cx="4507372" cy="3231556"/>
          </a:xfrm>
          <a:prstGeom prst="rect">
            <a:avLst/>
          </a:prstGeom>
        </p:spPr>
      </p:pic>
      <p:sp>
        <p:nvSpPr>
          <p:cNvPr id="12" name="TextBox 11">
            <a:extLst>
              <a:ext uri="{FF2B5EF4-FFF2-40B4-BE49-F238E27FC236}">
                <a16:creationId xmlns:a16="http://schemas.microsoft.com/office/drawing/2014/main" id="{BF991F52-B735-DE39-1F46-686BD60FD9CB}"/>
              </a:ext>
            </a:extLst>
          </p:cNvPr>
          <p:cNvSpPr txBox="1"/>
          <p:nvPr/>
        </p:nvSpPr>
        <p:spPr>
          <a:xfrm>
            <a:off x="461901" y="4313685"/>
            <a:ext cx="4736631"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solidFill>
                  <a:schemeClr val="accent2"/>
                </a:solidFill>
                <a:latin typeface="Aptos" panose="020B0004020202020204" pitchFamily="34" charset="0"/>
              </a:rPr>
              <a:t>Education Level vs Job Change:-</a:t>
            </a:r>
            <a:endParaRPr lang="en-US" dirty="0">
              <a:solidFill>
                <a:schemeClr val="accent2"/>
              </a:solidFill>
              <a:latin typeface="Aptos" panose="020B0004020202020204" pitchFamily="34" charset="0"/>
            </a:endParaRPr>
          </a:p>
          <a:p>
            <a:pPr marL="285750" indent="-285750">
              <a:buFont typeface="Arial" panose="020B0604020202020204" pitchFamily="34" charset="0"/>
              <a:buChar char="•"/>
            </a:pPr>
            <a:r>
              <a:rPr lang="en-US" dirty="0">
                <a:latin typeface="Aptos" panose="020B0004020202020204" pitchFamily="34" charset="0"/>
              </a:rPr>
              <a:t>Graduates form the largest group and have significant job change activity.</a:t>
            </a:r>
          </a:p>
          <a:p>
            <a:pPr marL="285750" indent="-285750">
              <a:buFont typeface="Arial" panose="020B0604020202020204" pitchFamily="34" charset="0"/>
              <a:buChar char="•"/>
            </a:pPr>
            <a:r>
              <a:rPr lang="en-US" dirty="0">
                <a:latin typeface="Aptos" panose="020B0004020202020204" pitchFamily="34" charset="0"/>
              </a:rPr>
              <a:t>Higher qualifications like PhDs and Masters have lower counts overall, but still show job change cases.</a:t>
            </a:r>
          </a:p>
        </p:txBody>
      </p:sp>
      <p:sp>
        <p:nvSpPr>
          <p:cNvPr id="15" name="TextBox 14">
            <a:extLst>
              <a:ext uri="{FF2B5EF4-FFF2-40B4-BE49-F238E27FC236}">
                <a16:creationId xmlns:a16="http://schemas.microsoft.com/office/drawing/2014/main" id="{D303BFDB-F620-6263-1AF6-E246BC66FA3B}"/>
              </a:ext>
            </a:extLst>
          </p:cNvPr>
          <p:cNvSpPr txBox="1"/>
          <p:nvPr/>
        </p:nvSpPr>
        <p:spPr>
          <a:xfrm>
            <a:off x="6269099" y="4299210"/>
            <a:ext cx="4736631"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solidFill>
                  <a:schemeClr val="accent2"/>
                </a:solidFill>
                <a:latin typeface="Aptos" panose="020B0004020202020204" pitchFamily="34" charset="0"/>
              </a:rPr>
              <a:t>Experience vs Job Change:-</a:t>
            </a:r>
            <a:endParaRPr lang="en-US" dirty="0">
              <a:solidFill>
                <a:schemeClr val="accent2"/>
              </a:solidFill>
              <a:latin typeface="Aptos" panose="020B0004020202020204" pitchFamily="34" charset="0"/>
            </a:endParaRPr>
          </a:p>
          <a:p>
            <a:pPr marL="285750" indent="-285750">
              <a:buFont typeface="Arial" panose="020B0604020202020204" pitchFamily="34" charset="0"/>
              <a:buChar char="•"/>
            </a:pPr>
            <a:r>
              <a:rPr lang="en-US" b="1" dirty="0"/>
              <a:t>This graph displays the relationship between the total years of work experience and the probability of changing jobs</a:t>
            </a:r>
            <a:endParaRPr lang="en-US" b="1" dirty="0">
              <a:latin typeface="Aptos" panose="020B0004020202020204" pitchFamily="34" charset="0"/>
            </a:endParaRPr>
          </a:p>
        </p:txBody>
      </p:sp>
      <p:pic>
        <p:nvPicPr>
          <p:cNvPr id="3" name="Picture 2">
            <a:extLst>
              <a:ext uri="{FF2B5EF4-FFF2-40B4-BE49-F238E27FC236}">
                <a16:creationId xmlns:a16="http://schemas.microsoft.com/office/drawing/2014/main" id="{D400566D-FDB3-42AB-B495-2719FA451B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97600" y="547964"/>
            <a:ext cx="5201920" cy="3231556"/>
          </a:xfrm>
          <a:prstGeom prst="rect">
            <a:avLst/>
          </a:prstGeom>
        </p:spPr>
      </p:pic>
    </p:spTree>
    <p:extLst>
      <p:ext uri="{BB962C8B-B14F-4D97-AF65-F5344CB8AC3E}">
        <p14:creationId xmlns:p14="http://schemas.microsoft.com/office/powerpoint/2010/main" val="3768834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C1B2E-62AC-45C4-0EA3-794AD37443F6}"/>
              </a:ext>
            </a:extLst>
          </p:cNvPr>
          <p:cNvSpPr>
            <a:spLocks noGrp="1"/>
          </p:cNvSpPr>
          <p:nvPr>
            <p:ph type="title"/>
          </p:nvPr>
        </p:nvSpPr>
        <p:spPr>
          <a:xfrm>
            <a:off x="678883" y="305282"/>
            <a:ext cx="10834234" cy="612775"/>
          </a:xfrm>
          <a:solidFill>
            <a:schemeClr val="accent5">
              <a:lumMod val="20000"/>
              <a:lumOff val="80000"/>
            </a:schemeClr>
          </a:solidFill>
        </p:spPr>
        <p:txBody>
          <a:bodyPr/>
          <a:lstStyle/>
          <a:p>
            <a:pPr algn="ctr"/>
            <a:r>
              <a:rPr lang="en-IN" dirty="0"/>
              <a:t>Model Selection</a:t>
            </a:r>
          </a:p>
        </p:txBody>
      </p:sp>
      <p:sp>
        <p:nvSpPr>
          <p:cNvPr id="3" name="Content Placeholder 2">
            <a:extLst>
              <a:ext uri="{FF2B5EF4-FFF2-40B4-BE49-F238E27FC236}">
                <a16:creationId xmlns:a16="http://schemas.microsoft.com/office/drawing/2014/main" id="{EC38D19B-C46F-8237-3142-59B183C78EA6}"/>
              </a:ext>
            </a:extLst>
          </p:cNvPr>
          <p:cNvSpPr>
            <a:spLocks noGrp="1"/>
          </p:cNvSpPr>
          <p:nvPr>
            <p:ph idx="1"/>
          </p:nvPr>
        </p:nvSpPr>
        <p:spPr>
          <a:xfrm>
            <a:off x="318588" y="918057"/>
            <a:ext cx="11058474" cy="4679946"/>
          </a:xfrm>
        </p:spPr>
        <p:txBody>
          <a:bodyPr>
            <a:noAutofit/>
          </a:bodyPr>
          <a:lstStyle/>
          <a:p>
            <a:pPr marL="0" indent="0">
              <a:lnSpc>
                <a:spcPct val="100000"/>
              </a:lnSpc>
              <a:buNone/>
            </a:pPr>
            <a:r>
              <a:rPr lang="en-US" sz="1800" dirty="0">
                <a:latin typeface="Aptos" panose="020B0004020202020204" pitchFamily="34" charset="0"/>
              </a:rPr>
              <a:t>3 Machine learning models were chosen for this study, each serving a different purpose:</a:t>
            </a:r>
          </a:p>
          <a:p>
            <a:pPr>
              <a:lnSpc>
                <a:spcPct val="100000"/>
              </a:lnSpc>
            </a:pPr>
            <a:r>
              <a:rPr lang="en-US" sz="1800" b="1" dirty="0">
                <a:latin typeface="Aptos" panose="020B0004020202020204" pitchFamily="34" charset="0"/>
              </a:rPr>
              <a:t>Logistic Regression</a:t>
            </a:r>
            <a:endParaRPr lang="en-US" sz="1800" dirty="0">
              <a:latin typeface="Aptos" panose="020B0004020202020204" pitchFamily="34" charset="0"/>
            </a:endParaRPr>
          </a:p>
          <a:p>
            <a:pPr lvl="1">
              <a:lnSpc>
                <a:spcPct val="100000"/>
              </a:lnSpc>
            </a:pPr>
            <a:r>
              <a:rPr lang="en-US" sz="1800" dirty="0">
                <a:latin typeface="Aptos" panose="020B0004020202020204" pitchFamily="34" charset="0"/>
              </a:rPr>
              <a:t>Acts as the baseline model.</a:t>
            </a:r>
          </a:p>
          <a:p>
            <a:pPr lvl="1">
              <a:lnSpc>
                <a:spcPct val="100000"/>
              </a:lnSpc>
            </a:pPr>
            <a:r>
              <a:rPr lang="en-US" sz="1800" dirty="0">
                <a:latin typeface="Aptos" panose="020B0004020202020204" pitchFamily="34" charset="0"/>
              </a:rPr>
              <a:t>Easy to interpret and explains how each factor affects the probability of a job change.</a:t>
            </a:r>
          </a:p>
          <a:p>
            <a:pPr>
              <a:lnSpc>
                <a:spcPct val="100000"/>
              </a:lnSpc>
            </a:pPr>
            <a:r>
              <a:rPr lang="en-US" sz="1800" b="1" dirty="0">
                <a:latin typeface="Aptos" panose="020B0004020202020204" pitchFamily="34" charset="0"/>
              </a:rPr>
              <a:t>Tuned Decision Tree</a:t>
            </a:r>
            <a:endParaRPr lang="en-US" sz="1800" dirty="0">
              <a:latin typeface="Aptos" panose="020B0004020202020204" pitchFamily="34" charset="0"/>
            </a:endParaRPr>
          </a:p>
          <a:p>
            <a:pPr lvl="1">
              <a:lnSpc>
                <a:spcPct val="100000"/>
              </a:lnSpc>
            </a:pPr>
            <a:r>
              <a:rPr lang="en-US" sz="1800" dirty="0">
                <a:latin typeface="Aptos" panose="020B0004020202020204" pitchFamily="34" charset="0"/>
              </a:rPr>
              <a:t>Captures non-linear relationships between features and the target.</a:t>
            </a:r>
          </a:p>
          <a:p>
            <a:pPr lvl="1">
              <a:lnSpc>
                <a:spcPct val="100000"/>
              </a:lnSpc>
            </a:pPr>
            <a:r>
              <a:rPr lang="en-US" sz="1800" dirty="0">
                <a:latin typeface="Aptos" panose="020B0004020202020204" pitchFamily="34" charset="0"/>
              </a:rPr>
              <a:t>Hyperparameters tuned to improve recall while avoiding overfitting.</a:t>
            </a:r>
          </a:p>
          <a:p>
            <a:pPr>
              <a:lnSpc>
                <a:spcPct val="100000"/>
              </a:lnSpc>
            </a:pPr>
            <a:r>
              <a:rPr lang="en-US" sz="1800" b="1" dirty="0">
                <a:latin typeface="Aptos" panose="020B0004020202020204" pitchFamily="34" charset="0"/>
              </a:rPr>
              <a:t>Recall-Focused Random Forest</a:t>
            </a:r>
            <a:endParaRPr lang="en-US" sz="1800" dirty="0">
              <a:latin typeface="Aptos" panose="020B0004020202020204" pitchFamily="34" charset="0"/>
            </a:endParaRPr>
          </a:p>
          <a:p>
            <a:pPr lvl="1">
              <a:lnSpc>
                <a:spcPct val="100000"/>
              </a:lnSpc>
            </a:pPr>
            <a:r>
              <a:rPr lang="en-US" sz="1800" dirty="0">
                <a:latin typeface="Aptos" panose="020B0004020202020204" pitchFamily="34" charset="0"/>
              </a:rPr>
              <a:t>Ensemble method combining multiple decision trees.</a:t>
            </a:r>
          </a:p>
          <a:p>
            <a:pPr lvl="1">
              <a:lnSpc>
                <a:spcPct val="100000"/>
              </a:lnSpc>
            </a:pPr>
            <a:r>
              <a:rPr lang="en-US" sz="1800" dirty="0">
                <a:latin typeface="Aptos" panose="020B0004020202020204" pitchFamily="34" charset="0"/>
              </a:rPr>
              <a:t>Optimized specifically to improve recall, ensuring more job changers are detected.</a:t>
            </a:r>
          </a:p>
          <a:p>
            <a:pPr lvl="1">
              <a:lnSpc>
                <a:spcPct val="100000"/>
              </a:lnSpc>
            </a:pPr>
            <a:r>
              <a:rPr lang="en-US" sz="1800" dirty="0">
                <a:latin typeface="Aptos" panose="020B0004020202020204" pitchFamily="34" charset="0"/>
              </a:rPr>
              <a:t>More robust and less sensitive to noise compared to a single decision tree.</a:t>
            </a:r>
          </a:p>
          <a:p>
            <a:pPr>
              <a:lnSpc>
                <a:spcPct val="100000"/>
              </a:lnSpc>
            </a:pPr>
            <a:r>
              <a:rPr lang="en-US" sz="1800" dirty="0">
                <a:latin typeface="Aptos" panose="020B0004020202020204" pitchFamily="34" charset="0"/>
              </a:rPr>
              <a:t>The choice of these models balances </a:t>
            </a:r>
            <a:r>
              <a:rPr lang="en-US" sz="1800" b="1" dirty="0">
                <a:latin typeface="Aptos" panose="020B0004020202020204" pitchFamily="34" charset="0"/>
              </a:rPr>
              <a:t>interpretability</a:t>
            </a:r>
            <a:r>
              <a:rPr lang="en-US" sz="1800" dirty="0">
                <a:latin typeface="Aptos" panose="020B0004020202020204" pitchFamily="34" charset="0"/>
              </a:rPr>
              <a:t> (Logistic Regression) and </a:t>
            </a:r>
            <a:r>
              <a:rPr lang="en-US" sz="1800" b="1" dirty="0">
                <a:latin typeface="Aptos" panose="020B0004020202020204" pitchFamily="34" charset="0"/>
              </a:rPr>
              <a:t>predictive power</a:t>
            </a:r>
            <a:r>
              <a:rPr lang="en-US" sz="1800" dirty="0">
                <a:latin typeface="Aptos" panose="020B0004020202020204" pitchFamily="34" charset="0"/>
              </a:rPr>
              <a:t> (Random Forest) while focusing on the business requirement of </a:t>
            </a:r>
            <a:r>
              <a:rPr lang="en-US" sz="1800" b="1" dirty="0">
                <a:latin typeface="Aptos" panose="020B0004020202020204" pitchFamily="34" charset="0"/>
              </a:rPr>
              <a:t>high recall</a:t>
            </a:r>
            <a:r>
              <a:rPr lang="en-US" sz="1800" dirty="0">
                <a:latin typeface="Aptos" panose="020B0004020202020204" pitchFamily="34" charset="0"/>
              </a:rPr>
              <a:t>.</a:t>
            </a:r>
          </a:p>
        </p:txBody>
      </p:sp>
    </p:spTree>
    <p:extLst>
      <p:ext uri="{BB962C8B-B14F-4D97-AF65-F5344CB8AC3E}">
        <p14:creationId xmlns:p14="http://schemas.microsoft.com/office/powerpoint/2010/main" val="234784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DEB87-5532-DA75-CA94-708461560F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E39E3-5808-1E8F-22AA-2CF5E62553FD}"/>
              </a:ext>
            </a:extLst>
          </p:cNvPr>
          <p:cNvSpPr>
            <a:spLocks noGrp="1"/>
          </p:cNvSpPr>
          <p:nvPr>
            <p:ph type="title"/>
          </p:nvPr>
        </p:nvSpPr>
        <p:spPr>
          <a:xfrm>
            <a:off x="678883" y="305282"/>
            <a:ext cx="10834234" cy="612775"/>
          </a:xfrm>
          <a:solidFill>
            <a:schemeClr val="accent5">
              <a:lumMod val="20000"/>
              <a:lumOff val="80000"/>
            </a:schemeClr>
          </a:solidFill>
        </p:spPr>
        <p:txBody>
          <a:bodyPr/>
          <a:lstStyle/>
          <a:p>
            <a:pPr algn="ctr"/>
            <a:r>
              <a:rPr lang="en-IN" dirty="0"/>
              <a:t>Evaluation metrics</a:t>
            </a:r>
          </a:p>
        </p:txBody>
      </p:sp>
      <p:sp>
        <p:nvSpPr>
          <p:cNvPr id="3" name="Content Placeholder 2">
            <a:extLst>
              <a:ext uri="{FF2B5EF4-FFF2-40B4-BE49-F238E27FC236}">
                <a16:creationId xmlns:a16="http://schemas.microsoft.com/office/drawing/2014/main" id="{09BF4D1B-252F-6C29-FCDB-E624690AE232}"/>
              </a:ext>
            </a:extLst>
          </p:cNvPr>
          <p:cNvSpPr>
            <a:spLocks noGrp="1"/>
          </p:cNvSpPr>
          <p:nvPr>
            <p:ph idx="1"/>
          </p:nvPr>
        </p:nvSpPr>
        <p:spPr>
          <a:xfrm>
            <a:off x="376341" y="1278093"/>
            <a:ext cx="5995584" cy="3455953"/>
          </a:xfrm>
        </p:spPr>
        <p:txBody>
          <a:bodyPr>
            <a:noAutofit/>
          </a:bodyPr>
          <a:lstStyle/>
          <a:p>
            <a:pPr>
              <a:lnSpc>
                <a:spcPct val="100000"/>
              </a:lnSpc>
            </a:pPr>
            <a:r>
              <a:rPr lang="en-US" sz="1800" b="1" dirty="0">
                <a:latin typeface="Aptos" panose="020B0004020202020204" pitchFamily="34" charset="0"/>
              </a:rPr>
              <a:t>Accuracy</a:t>
            </a:r>
            <a:r>
              <a:rPr lang="en-US" sz="1800" dirty="0">
                <a:latin typeface="Aptos" panose="020B0004020202020204" pitchFamily="34" charset="0"/>
              </a:rPr>
              <a:t> – Proportion of correct predictions among total predictions.</a:t>
            </a:r>
          </a:p>
          <a:p>
            <a:pPr>
              <a:lnSpc>
                <a:spcPct val="100000"/>
              </a:lnSpc>
            </a:pPr>
            <a:r>
              <a:rPr lang="en-US" sz="1800" b="1" dirty="0">
                <a:latin typeface="Aptos" panose="020B0004020202020204" pitchFamily="34" charset="0"/>
              </a:rPr>
              <a:t>Precision </a:t>
            </a:r>
            <a:r>
              <a:rPr lang="en-US" sz="1800" dirty="0">
                <a:latin typeface="Aptos" panose="020B0004020202020204" pitchFamily="34" charset="0"/>
              </a:rPr>
              <a:t>– Out of predicted positives, how many are truly positive </a:t>
            </a:r>
          </a:p>
          <a:p>
            <a:pPr>
              <a:lnSpc>
                <a:spcPct val="100000"/>
              </a:lnSpc>
            </a:pPr>
            <a:r>
              <a:rPr lang="en-US" sz="1800" b="1" dirty="0">
                <a:latin typeface="Aptos" panose="020B0004020202020204" pitchFamily="34" charset="0"/>
              </a:rPr>
              <a:t>Recall (Sensitivity) </a:t>
            </a:r>
            <a:r>
              <a:rPr lang="en-US" sz="1800" dirty="0">
                <a:latin typeface="Aptos" panose="020B0004020202020204" pitchFamily="34" charset="0"/>
              </a:rPr>
              <a:t>– Out of actual positives, how many were correctly identified. </a:t>
            </a:r>
          </a:p>
          <a:p>
            <a:pPr>
              <a:lnSpc>
                <a:spcPct val="100000"/>
              </a:lnSpc>
            </a:pPr>
            <a:r>
              <a:rPr lang="en-US" sz="1800" b="1" dirty="0">
                <a:latin typeface="Aptos" panose="020B0004020202020204" pitchFamily="34" charset="0"/>
              </a:rPr>
              <a:t>F1 Score </a:t>
            </a:r>
            <a:r>
              <a:rPr lang="en-US" sz="1800" dirty="0">
                <a:latin typeface="Aptos" panose="020B0004020202020204" pitchFamily="34" charset="0"/>
              </a:rPr>
              <a:t>– Harmonic mean of Precision &amp; Recall; balances both metrics. </a:t>
            </a:r>
          </a:p>
          <a:p>
            <a:pPr>
              <a:lnSpc>
                <a:spcPct val="100000"/>
              </a:lnSpc>
            </a:pPr>
            <a:r>
              <a:rPr lang="en-US" sz="1800" b="1" dirty="0">
                <a:latin typeface="Aptos" panose="020B0004020202020204" pitchFamily="34" charset="0"/>
              </a:rPr>
              <a:t>ROC-AUC</a:t>
            </a:r>
            <a:r>
              <a:rPr lang="en-US" sz="1800" dirty="0">
                <a:latin typeface="Aptos" panose="020B0004020202020204" pitchFamily="34" charset="0"/>
              </a:rPr>
              <a:t> – Measures classification ability across thresholds; higher is better.</a:t>
            </a:r>
          </a:p>
        </p:txBody>
      </p:sp>
      <p:pic>
        <p:nvPicPr>
          <p:cNvPr id="6148" name="Picture 4" descr="Model Evaluation Techniques in Machine ...">
            <a:extLst>
              <a:ext uri="{FF2B5EF4-FFF2-40B4-BE49-F238E27FC236}">
                <a16:creationId xmlns:a16="http://schemas.microsoft.com/office/drawing/2014/main" id="{21340CEA-1D83-479E-955D-EF3EFBFA05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1925" y="1532093"/>
            <a:ext cx="5677320" cy="3639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9335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F48D0-7995-EE06-5669-3214F13B82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1BA84B-CB05-9900-D6A8-A3E997604720}"/>
              </a:ext>
            </a:extLst>
          </p:cNvPr>
          <p:cNvSpPr>
            <a:spLocks noGrp="1"/>
          </p:cNvSpPr>
          <p:nvPr>
            <p:ph type="title"/>
          </p:nvPr>
        </p:nvSpPr>
        <p:spPr>
          <a:xfrm>
            <a:off x="678883" y="334159"/>
            <a:ext cx="10834234" cy="612775"/>
          </a:xfrm>
          <a:solidFill>
            <a:schemeClr val="accent5">
              <a:lumMod val="20000"/>
              <a:lumOff val="80000"/>
            </a:schemeClr>
          </a:solidFill>
        </p:spPr>
        <p:txBody>
          <a:bodyPr/>
          <a:lstStyle/>
          <a:p>
            <a:pPr algn="ctr"/>
            <a:r>
              <a:rPr lang="en-IN" dirty="0"/>
              <a:t>Model Comparison</a:t>
            </a:r>
          </a:p>
        </p:txBody>
      </p:sp>
      <p:pic>
        <p:nvPicPr>
          <p:cNvPr id="4" name="Picture 3">
            <a:extLst>
              <a:ext uri="{FF2B5EF4-FFF2-40B4-BE49-F238E27FC236}">
                <a16:creationId xmlns:a16="http://schemas.microsoft.com/office/drawing/2014/main" id="{58F1ECEB-7A57-4BDF-B331-13FC1EC38D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1354" y="1031240"/>
            <a:ext cx="9989292" cy="4795520"/>
          </a:xfrm>
          <a:prstGeom prst="rect">
            <a:avLst/>
          </a:prstGeom>
        </p:spPr>
      </p:pic>
    </p:spTree>
    <p:extLst>
      <p:ext uri="{BB962C8B-B14F-4D97-AF65-F5344CB8AC3E}">
        <p14:creationId xmlns:p14="http://schemas.microsoft.com/office/powerpoint/2010/main" val="2454298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8006B-ECAA-1822-4C7C-1B2F3F8456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8A6C10-1FA1-DE47-0215-5F4933AE70AD}"/>
              </a:ext>
            </a:extLst>
          </p:cNvPr>
          <p:cNvSpPr>
            <a:spLocks noGrp="1"/>
          </p:cNvSpPr>
          <p:nvPr>
            <p:ph type="title"/>
          </p:nvPr>
        </p:nvSpPr>
        <p:spPr>
          <a:xfrm>
            <a:off x="678883" y="334159"/>
            <a:ext cx="10834234" cy="612775"/>
          </a:xfrm>
          <a:solidFill>
            <a:schemeClr val="accent5">
              <a:lumMod val="20000"/>
              <a:lumOff val="80000"/>
            </a:schemeClr>
          </a:solidFill>
        </p:spPr>
        <p:txBody>
          <a:bodyPr/>
          <a:lstStyle/>
          <a:p>
            <a:pPr algn="ctr"/>
            <a:r>
              <a:rPr lang="en-IN" dirty="0"/>
              <a:t>Best Model</a:t>
            </a:r>
          </a:p>
        </p:txBody>
      </p:sp>
      <p:sp>
        <p:nvSpPr>
          <p:cNvPr id="3" name="Content Placeholder 2">
            <a:extLst>
              <a:ext uri="{FF2B5EF4-FFF2-40B4-BE49-F238E27FC236}">
                <a16:creationId xmlns:a16="http://schemas.microsoft.com/office/drawing/2014/main" id="{5F1F338D-0322-5074-5DAC-E4859F61160F}"/>
              </a:ext>
            </a:extLst>
          </p:cNvPr>
          <p:cNvSpPr>
            <a:spLocks noGrp="1"/>
          </p:cNvSpPr>
          <p:nvPr>
            <p:ph idx="1"/>
          </p:nvPr>
        </p:nvSpPr>
        <p:spPr>
          <a:xfrm>
            <a:off x="515255" y="1369922"/>
            <a:ext cx="5445992" cy="4482237"/>
          </a:xfrm>
        </p:spPr>
        <p:txBody>
          <a:bodyPr>
            <a:normAutofit fontScale="85000" lnSpcReduction="10000"/>
          </a:bodyPr>
          <a:lstStyle/>
          <a:p>
            <a:pPr indent="-288000">
              <a:lnSpc>
                <a:spcPct val="120000"/>
              </a:lnSpc>
            </a:pPr>
            <a:r>
              <a:rPr lang="en-US" sz="2400" b="1" dirty="0">
                <a:latin typeface="Aptos" panose="020B0004020202020204" pitchFamily="34" charset="0"/>
              </a:rPr>
              <a:t>Best Model</a:t>
            </a:r>
            <a:r>
              <a:rPr lang="en-US" sz="2400" dirty="0">
                <a:latin typeface="Aptos" panose="020B0004020202020204" pitchFamily="34" charset="0"/>
              </a:rPr>
              <a:t>: Recall-Focused Random Forest</a:t>
            </a:r>
          </a:p>
          <a:p>
            <a:pPr indent="-288000">
              <a:lnSpc>
                <a:spcPct val="120000"/>
              </a:lnSpc>
            </a:pPr>
            <a:r>
              <a:rPr lang="en-US" sz="2400" b="1" dirty="0">
                <a:latin typeface="Aptos" panose="020B0004020202020204" pitchFamily="34" charset="0"/>
              </a:rPr>
              <a:t>Why</a:t>
            </a:r>
            <a:r>
              <a:rPr lang="en-US" sz="2400" dirty="0">
                <a:latin typeface="Aptos" panose="020B0004020202020204" pitchFamily="34" charset="0"/>
              </a:rPr>
              <a:t>:</a:t>
            </a:r>
          </a:p>
          <a:p>
            <a:pPr lvl="1" indent="-288000">
              <a:lnSpc>
                <a:spcPct val="120000"/>
              </a:lnSpc>
            </a:pPr>
            <a:r>
              <a:rPr lang="en-US" dirty="0">
                <a:latin typeface="Aptos" panose="020B0004020202020204" pitchFamily="34" charset="0"/>
              </a:rPr>
              <a:t>Significantly higher </a:t>
            </a:r>
            <a:r>
              <a:rPr lang="en-US" b="1" dirty="0">
                <a:latin typeface="Aptos" panose="020B0004020202020204" pitchFamily="34" charset="0"/>
              </a:rPr>
              <a:t>recall</a:t>
            </a:r>
            <a:r>
              <a:rPr lang="en-US" dirty="0">
                <a:latin typeface="Aptos" panose="020B0004020202020204" pitchFamily="34" charset="0"/>
              </a:rPr>
              <a:t> (0.729 on test) — critical for detecting actual job changers.</a:t>
            </a:r>
          </a:p>
          <a:p>
            <a:pPr lvl="1" indent="-288000">
              <a:lnSpc>
                <a:spcPct val="120000"/>
              </a:lnSpc>
            </a:pPr>
            <a:r>
              <a:rPr lang="en-US" dirty="0">
                <a:latin typeface="Aptos" panose="020B0004020202020204" pitchFamily="34" charset="0"/>
              </a:rPr>
              <a:t>Best </a:t>
            </a:r>
            <a:r>
              <a:rPr lang="en-US" b="1" dirty="0">
                <a:latin typeface="Aptos" panose="020B0004020202020204" pitchFamily="34" charset="0"/>
              </a:rPr>
              <a:t>F1-score</a:t>
            </a:r>
            <a:r>
              <a:rPr lang="en-US" dirty="0">
                <a:latin typeface="Aptos" panose="020B0004020202020204" pitchFamily="34" charset="0"/>
              </a:rPr>
              <a:t> among all models — balances precision &amp; recall.</a:t>
            </a:r>
          </a:p>
          <a:p>
            <a:pPr lvl="1" indent="-288000">
              <a:lnSpc>
                <a:spcPct val="120000"/>
              </a:lnSpc>
            </a:pPr>
            <a:r>
              <a:rPr lang="en-US" dirty="0">
                <a:latin typeface="Aptos" panose="020B0004020202020204" pitchFamily="34" charset="0"/>
              </a:rPr>
              <a:t>Strong ROC-AUC (0.806) → better discrimination ability.</a:t>
            </a:r>
          </a:p>
          <a:p>
            <a:pPr indent="-288000">
              <a:lnSpc>
                <a:spcPct val="120000"/>
              </a:lnSpc>
            </a:pPr>
            <a:r>
              <a:rPr lang="en-US" sz="2400" b="1" dirty="0">
                <a:latin typeface="Aptos" panose="020B0004020202020204" pitchFamily="34" charset="0"/>
              </a:rPr>
              <a:t>Trade-off</a:t>
            </a:r>
            <a:r>
              <a:rPr lang="en-US" sz="2400" dirty="0">
                <a:latin typeface="Aptos" panose="020B0004020202020204" pitchFamily="34" charset="0"/>
              </a:rPr>
              <a:t>: Slightly lower precision than others, but acceptable since </a:t>
            </a:r>
            <a:r>
              <a:rPr lang="en-US" sz="2400" b="1" dirty="0">
                <a:latin typeface="Aptos" panose="020B0004020202020204" pitchFamily="34" charset="0"/>
              </a:rPr>
              <a:t>false negatives are more costly</a:t>
            </a:r>
            <a:r>
              <a:rPr lang="en-US" sz="2400" dirty="0">
                <a:latin typeface="Aptos" panose="020B0004020202020204" pitchFamily="34" charset="0"/>
              </a:rPr>
              <a:t> in this problem.</a:t>
            </a:r>
          </a:p>
        </p:txBody>
      </p:sp>
      <p:pic>
        <p:nvPicPr>
          <p:cNvPr id="5122" name="Picture 2" descr="Random Forest Algorithm for beginners ...">
            <a:extLst>
              <a:ext uri="{FF2B5EF4-FFF2-40B4-BE49-F238E27FC236}">
                <a16:creationId xmlns:a16="http://schemas.microsoft.com/office/drawing/2014/main" id="{AD8F3972-E333-4EEB-B502-5D47B23098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2352" y="1447396"/>
            <a:ext cx="5100765" cy="4327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9248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0DE4C-3E6A-477B-9C05-23ECF322670E}"/>
              </a:ext>
            </a:extLst>
          </p:cNvPr>
          <p:cNvSpPr>
            <a:spLocks noGrp="1"/>
          </p:cNvSpPr>
          <p:nvPr>
            <p:ph type="title"/>
          </p:nvPr>
        </p:nvSpPr>
        <p:spPr>
          <a:xfrm>
            <a:off x="567124" y="298866"/>
            <a:ext cx="5694895" cy="612775"/>
          </a:xfrm>
        </p:spPr>
        <p:txBody>
          <a:bodyPr>
            <a:normAutofit fontScale="90000"/>
          </a:bodyPr>
          <a:lstStyle/>
          <a:p>
            <a:r>
              <a:rPr lang="en-US" dirty="0"/>
              <a:t>Model Deployment with </a:t>
            </a:r>
            <a:r>
              <a:rPr lang="en-US" dirty="0" err="1"/>
              <a:t>Streamlit</a:t>
            </a:r>
            <a:endParaRPr lang="en-US" dirty="0"/>
          </a:p>
        </p:txBody>
      </p:sp>
      <p:pic>
        <p:nvPicPr>
          <p:cNvPr id="5" name="Picture 4">
            <a:extLst>
              <a:ext uri="{FF2B5EF4-FFF2-40B4-BE49-F238E27FC236}">
                <a16:creationId xmlns:a16="http://schemas.microsoft.com/office/drawing/2014/main" id="{0356325C-9501-457D-BEE1-B707C1B372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2019" y="1356360"/>
            <a:ext cx="5711756" cy="3881120"/>
          </a:xfrm>
          <a:prstGeom prst="rect">
            <a:avLst/>
          </a:prstGeom>
        </p:spPr>
      </p:pic>
      <p:sp>
        <p:nvSpPr>
          <p:cNvPr id="6" name="TextBox 5">
            <a:extLst>
              <a:ext uri="{FF2B5EF4-FFF2-40B4-BE49-F238E27FC236}">
                <a16:creationId xmlns:a16="http://schemas.microsoft.com/office/drawing/2014/main" id="{7753F1D9-C89D-4C81-BAF7-BFF56254425A}"/>
              </a:ext>
            </a:extLst>
          </p:cNvPr>
          <p:cNvSpPr txBox="1"/>
          <p:nvPr/>
        </p:nvSpPr>
        <p:spPr>
          <a:xfrm>
            <a:off x="567124" y="1351280"/>
            <a:ext cx="5122476" cy="861774"/>
          </a:xfrm>
          <a:prstGeom prst="rect">
            <a:avLst/>
          </a:prstGeom>
          <a:noFill/>
        </p:spPr>
        <p:txBody>
          <a:bodyPr wrap="square" rtlCol="0">
            <a:spAutoFit/>
          </a:bodyPr>
          <a:lstStyle/>
          <a:p>
            <a:r>
              <a:rPr lang="en-US" b="1" dirty="0"/>
              <a:t>Web-Based Interface:</a:t>
            </a:r>
            <a:r>
              <a:rPr lang="en-US" dirty="0"/>
              <a:t> </a:t>
            </a:r>
            <a:r>
              <a:rPr lang="en-US" sz="1600" b="1" dirty="0"/>
              <a:t>Transformed a static Machine Learning model into an interactive web application using the </a:t>
            </a:r>
            <a:r>
              <a:rPr lang="en-US" sz="1600" b="1" dirty="0" err="1"/>
              <a:t>Streamlit</a:t>
            </a:r>
            <a:r>
              <a:rPr lang="en-US" sz="1600" b="1" dirty="0"/>
              <a:t> framework</a:t>
            </a:r>
            <a:r>
              <a:rPr lang="en-US" sz="1600" dirty="0"/>
              <a:t>.</a:t>
            </a:r>
          </a:p>
        </p:txBody>
      </p:sp>
      <p:sp>
        <p:nvSpPr>
          <p:cNvPr id="15" name="TextBox 14">
            <a:extLst>
              <a:ext uri="{FF2B5EF4-FFF2-40B4-BE49-F238E27FC236}">
                <a16:creationId xmlns:a16="http://schemas.microsoft.com/office/drawing/2014/main" id="{1776F486-A066-4F98-8CA4-CFA215C2BE17}"/>
              </a:ext>
            </a:extLst>
          </p:cNvPr>
          <p:cNvSpPr txBox="1"/>
          <p:nvPr/>
        </p:nvSpPr>
        <p:spPr>
          <a:xfrm>
            <a:off x="567124" y="2306320"/>
            <a:ext cx="5122476" cy="338554"/>
          </a:xfrm>
          <a:prstGeom prst="rect">
            <a:avLst/>
          </a:prstGeom>
          <a:noFill/>
        </p:spPr>
        <p:txBody>
          <a:bodyPr wrap="square" rtlCol="0">
            <a:spAutoFit/>
          </a:bodyPr>
          <a:lstStyle/>
          <a:p>
            <a:endParaRPr lang="en-US" sz="1600" dirty="0"/>
          </a:p>
        </p:txBody>
      </p:sp>
      <p:sp>
        <p:nvSpPr>
          <p:cNvPr id="16" name="Rectangle 2">
            <a:extLst>
              <a:ext uri="{FF2B5EF4-FFF2-40B4-BE49-F238E27FC236}">
                <a16:creationId xmlns:a16="http://schemas.microsoft.com/office/drawing/2014/main" id="{5C654F88-B6B1-420B-AF11-7437B1856ED6}"/>
              </a:ext>
            </a:extLst>
          </p:cNvPr>
          <p:cNvSpPr>
            <a:spLocks noChangeArrowheads="1"/>
          </p:cNvSpPr>
          <p:nvPr/>
        </p:nvSpPr>
        <p:spPr bwMode="auto">
          <a:xfrm>
            <a:off x="567124" y="2306320"/>
            <a:ext cx="545451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Model Serialization (Pickle):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panose="020B0604020202020204" pitchFamily="34" charset="0"/>
              </a:rPr>
              <a:t>Utilized the </a:t>
            </a:r>
            <a:r>
              <a:rPr kumimoji="0" lang="en-US" altLang="en-US" sz="1400" b="1" i="0" u="none" strike="noStrike" cap="none" normalizeH="0" baseline="0" dirty="0">
                <a:ln>
                  <a:noFill/>
                </a:ln>
                <a:solidFill>
                  <a:schemeClr val="tx1"/>
                </a:solidFill>
                <a:effectLst/>
                <a:latin typeface="Arial Unicode MS"/>
              </a:rPr>
              <a:t>pickle</a:t>
            </a:r>
            <a:r>
              <a:rPr kumimoji="0" lang="en-US" altLang="en-US" sz="1400" b="1" i="0" u="none" strike="noStrike" cap="none" normalizeH="0" baseline="0" dirty="0">
                <a:ln>
                  <a:noFill/>
                </a:ln>
                <a:solidFill>
                  <a:schemeClr val="tx1"/>
                </a:solidFill>
                <a:effectLst/>
              </a:rPr>
              <a:t> library to load the pre-trained </a:t>
            </a:r>
            <a:r>
              <a:rPr kumimoji="0" lang="en-US" altLang="en-US" sz="1600" b="1" i="0" u="none" strike="noStrike" cap="none" normalizeH="0" baseline="0" dirty="0">
                <a:ln>
                  <a:noFill/>
                </a:ln>
                <a:solidFill>
                  <a:schemeClr val="tx1"/>
                </a:solidFill>
                <a:effectLst/>
                <a:latin typeface="Arial" panose="020B0604020202020204" pitchFamily="34" charset="0"/>
              </a:rPr>
              <a:t>Random Forest</a:t>
            </a:r>
            <a:r>
              <a:rPr kumimoji="0" lang="en-US" altLang="en-US" sz="1600" b="0" i="0" u="none" strike="noStrike" cap="none" normalizeH="0" baseline="0" dirty="0">
                <a:ln>
                  <a:noFill/>
                </a:ln>
                <a:solidFill>
                  <a:schemeClr val="tx1"/>
                </a:solidFill>
                <a:effectLst/>
                <a:latin typeface="Arial" panose="020B0604020202020204" pitchFamily="34" charset="0"/>
              </a:rPr>
              <a:t> model and the </a:t>
            </a:r>
            <a:r>
              <a:rPr kumimoji="0" lang="en-US" altLang="en-US" sz="1600" b="1" i="0" u="none" strike="noStrike" cap="none" normalizeH="0" baseline="0" dirty="0" err="1">
                <a:ln>
                  <a:noFill/>
                </a:ln>
                <a:solidFill>
                  <a:schemeClr val="tx1"/>
                </a:solidFill>
                <a:effectLst/>
                <a:latin typeface="Arial" panose="020B0604020202020204" pitchFamily="34" charset="0"/>
              </a:rPr>
              <a:t>StandardScaler</a:t>
            </a:r>
            <a:r>
              <a:rPr kumimoji="0" lang="en-US" altLang="en-US" sz="1600" b="1" i="0" u="none" strike="noStrike" cap="none" normalizeH="0" baseline="0" dirty="0">
                <a:ln>
                  <a:noFill/>
                </a:ln>
                <a:solidFill>
                  <a:schemeClr val="tx1"/>
                </a:solidFill>
                <a:effectLst/>
                <a:latin typeface="Arial" panose="020B0604020202020204" pitchFamily="34" charset="0"/>
              </a:rPr>
              <a:t> object</a:t>
            </a:r>
            <a:r>
              <a:rPr kumimoji="0" lang="en-US" altLang="en-US" sz="1600" b="0" i="0" u="none" strike="noStrike" cap="none" normalizeH="0" baseline="0" dirty="0">
                <a:ln>
                  <a:noFill/>
                </a:ln>
                <a:solidFill>
                  <a:schemeClr val="tx1"/>
                </a:solidFill>
                <a:effectLst/>
                <a:latin typeface="Arial" panose="020B0604020202020204" pitchFamily="34" charset="0"/>
              </a:rPr>
              <a:t> for consistent data transformation </a:t>
            </a:r>
          </a:p>
        </p:txBody>
      </p:sp>
      <p:sp>
        <p:nvSpPr>
          <p:cNvPr id="18" name="Rectangle 3">
            <a:extLst>
              <a:ext uri="{FF2B5EF4-FFF2-40B4-BE49-F238E27FC236}">
                <a16:creationId xmlns:a16="http://schemas.microsoft.com/office/drawing/2014/main" id="{68D5F452-3D64-4663-95D1-99F91550036D}"/>
              </a:ext>
            </a:extLst>
          </p:cNvPr>
          <p:cNvSpPr>
            <a:spLocks noChangeArrowheads="1"/>
          </p:cNvSpPr>
          <p:nvPr/>
        </p:nvSpPr>
        <p:spPr bwMode="auto">
          <a:xfrm>
            <a:off x="556259" y="3296920"/>
            <a:ext cx="537372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Data Consistency:</a:t>
            </a:r>
            <a:r>
              <a:rPr kumimoji="0" lang="en-US" altLang="en-US" sz="1800" b="0" i="0" u="none" strike="noStrike" cap="none" normalizeH="0" baseline="0" dirty="0">
                <a:ln>
                  <a:noFill/>
                </a:ln>
                <a:solidFill>
                  <a:schemeClr val="tx1"/>
                </a:solidFill>
                <a:effectLst/>
                <a:latin typeface="Arial" panose="020B0604020202020204" pitchFamily="34" charset="0"/>
              </a:rPr>
              <a:t> Implemented a logic to align real-time user input with the original training features using </a:t>
            </a:r>
            <a:r>
              <a:rPr kumimoji="0" lang="en-US" altLang="en-US" b="0" i="0" u="none" strike="noStrike" cap="none" normalizeH="0" baseline="0" dirty="0" err="1">
                <a:ln>
                  <a:noFill/>
                </a:ln>
                <a:solidFill>
                  <a:schemeClr val="tx1"/>
                </a:solidFill>
                <a:effectLst/>
                <a:latin typeface="Arial Unicode MS"/>
              </a:rPr>
              <a:t>df.reindex</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9" name="TextBox 18">
            <a:extLst>
              <a:ext uri="{FF2B5EF4-FFF2-40B4-BE49-F238E27FC236}">
                <a16:creationId xmlns:a16="http://schemas.microsoft.com/office/drawing/2014/main" id="{9495F07D-515A-4457-B225-3AD987DD498C}"/>
              </a:ext>
            </a:extLst>
          </p:cNvPr>
          <p:cNvSpPr txBox="1"/>
          <p:nvPr/>
        </p:nvSpPr>
        <p:spPr>
          <a:xfrm flipH="1">
            <a:off x="556259" y="4291489"/>
            <a:ext cx="4976073" cy="738664"/>
          </a:xfrm>
          <a:prstGeom prst="rect">
            <a:avLst/>
          </a:prstGeom>
          <a:noFill/>
        </p:spPr>
        <p:txBody>
          <a:bodyPr wrap="square" rtlCol="0">
            <a:spAutoFit/>
          </a:bodyPr>
          <a:lstStyle/>
          <a:p>
            <a:r>
              <a:rPr lang="en-US" b="1" dirty="0"/>
              <a:t>Instant Feedback:</a:t>
            </a:r>
            <a:r>
              <a:rPr lang="en-US" dirty="0"/>
              <a:t> Used a </a:t>
            </a:r>
            <a:r>
              <a:rPr lang="en-US" sz="2400" b="1" dirty="0"/>
              <a:t>"Predict" </a:t>
            </a:r>
            <a:r>
              <a:rPr lang="en-US" dirty="0"/>
              <a:t>button to generate results without reloading the entire page.</a:t>
            </a:r>
          </a:p>
        </p:txBody>
      </p:sp>
    </p:spTree>
    <p:extLst>
      <p:ext uri="{BB962C8B-B14F-4D97-AF65-F5344CB8AC3E}">
        <p14:creationId xmlns:p14="http://schemas.microsoft.com/office/powerpoint/2010/main" val="2803309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5CEB4-6AD3-142A-AB9D-1ED489B5BB77}"/>
              </a:ext>
            </a:extLst>
          </p:cNvPr>
          <p:cNvSpPr>
            <a:spLocks noGrp="1"/>
          </p:cNvSpPr>
          <p:nvPr>
            <p:ph type="title"/>
          </p:nvPr>
        </p:nvSpPr>
        <p:spPr>
          <a:solidFill>
            <a:schemeClr val="accent5">
              <a:lumMod val="20000"/>
              <a:lumOff val="80000"/>
            </a:schemeClr>
          </a:solidFill>
        </p:spPr>
        <p:txBody>
          <a:bodyPr/>
          <a:lstStyle/>
          <a:p>
            <a:pPr algn="ctr"/>
            <a:r>
              <a:rPr lang="en-IN" dirty="0"/>
              <a:t>Conclusion</a:t>
            </a:r>
          </a:p>
        </p:txBody>
      </p:sp>
      <p:sp>
        <p:nvSpPr>
          <p:cNvPr id="3" name="Content Placeholder 2">
            <a:extLst>
              <a:ext uri="{FF2B5EF4-FFF2-40B4-BE49-F238E27FC236}">
                <a16:creationId xmlns:a16="http://schemas.microsoft.com/office/drawing/2014/main" id="{21A3AEE3-589E-FE37-1CBF-DF93CD92504D}"/>
              </a:ext>
            </a:extLst>
          </p:cNvPr>
          <p:cNvSpPr>
            <a:spLocks noGrp="1"/>
          </p:cNvSpPr>
          <p:nvPr>
            <p:ph idx="1"/>
          </p:nvPr>
        </p:nvSpPr>
        <p:spPr>
          <a:xfrm>
            <a:off x="255701" y="1631004"/>
            <a:ext cx="5192528" cy="4074160"/>
          </a:xfrm>
        </p:spPr>
        <p:txBody>
          <a:bodyPr>
            <a:noAutofit/>
          </a:bodyPr>
          <a:lstStyle/>
          <a:p>
            <a:r>
              <a:rPr lang="en-US" sz="1600" b="1" dirty="0"/>
              <a:t>Random Forest (The Winner):</a:t>
            </a:r>
            <a:r>
              <a:rPr lang="en-US" sz="1600" dirty="0"/>
              <a:t> This model achieved the highest </a:t>
            </a:r>
            <a:r>
              <a:rPr lang="en-US" sz="1600" b="1" dirty="0"/>
              <a:t>Accuracy of 80.67%</a:t>
            </a:r>
            <a:r>
              <a:rPr lang="en-US" sz="1600" dirty="0"/>
              <a:t>. More importantly, it showed a balanced </a:t>
            </a:r>
            <a:r>
              <a:rPr lang="en-US" sz="1600" b="1" dirty="0"/>
              <a:t>Recall (0.81)</a:t>
            </a:r>
            <a:r>
              <a:rPr lang="en-US" sz="1600" dirty="0"/>
              <a:t> and </a:t>
            </a:r>
            <a:r>
              <a:rPr lang="en-US" sz="1600" b="1" dirty="0"/>
              <a:t>F1-score (0.81)</a:t>
            </a:r>
            <a:r>
              <a:rPr lang="en-US" sz="1600" dirty="0"/>
              <a:t> for both classes, making it the most robust tool for identifying potential leavers</a:t>
            </a:r>
            <a:r>
              <a:rPr lang="en-US" sz="1200" dirty="0"/>
              <a:t>.</a:t>
            </a:r>
            <a:endParaRPr lang="en-US" sz="1400" dirty="0">
              <a:latin typeface="Aptos" panose="020B0004020202020204" pitchFamily="34" charset="0"/>
            </a:endParaRPr>
          </a:p>
          <a:p>
            <a:r>
              <a:rPr lang="en-US" sz="1600" b="1" dirty="0"/>
              <a:t>Decision Tree:</a:t>
            </a:r>
            <a:r>
              <a:rPr lang="en-US" sz="1600" dirty="0"/>
              <a:t> While effective, it reached a lower </a:t>
            </a:r>
            <a:r>
              <a:rPr lang="en-US" sz="1600" b="1" dirty="0"/>
              <a:t>Accuracy of 75.71%</a:t>
            </a:r>
            <a:r>
              <a:rPr lang="en-US" sz="1600" dirty="0"/>
              <a:t>. It is less stable than the ensemble approach of Random Forest.</a:t>
            </a:r>
          </a:p>
          <a:p>
            <a:r>
              <a:rPr lang="en-US" sz="1600" b="1" dirty="0"/>
              <a:t>Logistic Regression:</a:t>
            </a:r>
            <a:r>
              <a:rPr lang="en-US" sz="1600" dirty="0"/>
              <a:t> This model performed the weakest with an </a:t>
            </a:r>
            <a:r>
              <a:rPr lang="en-US" sz="1600" b="1" dirty="0"/>
              <a:t>Accuracy of 72.15%</a:t>
            </a:r>
            <a:r>
              <a:rPr lang="en-US" sz="1600" dirty="0"/>
              <a:t>. Its lower recall for class 1.0 (0.70) means it misses more employees who are actually planning to leave</a:t>
            </a:r>
            <a:r>
              <a:rPr lang="en-US" sz="1100" dirty="0"/>
              <a:t>.</a:t>
            </a:r>
          </a:p>
          <a:p>
            <a:r>
              <a:rPr lang="en-US" sz="1800" b="1" dirty="0"/>
              <a:t>Significance</a:t>
            </a:r>
            <a:r>
              <a:rPr lang="en-US" sz="1600" dirty="0"/>
              <a:t>: An </a:t>
            </a:r>
            <a:r>
              <a:rPr lang="en-US" sz="1600" b="1" dirty="0"/>
              <a:t>AUC of ~0.89 </a:t>
            </a:r>
            <a:r>
              <a:rPr lang="en-US" sz="1600" dirty="0"/>
              <a:t>indicates a strong ability to distinguish between employees who will stay and those who will leave, confirming the model's reliability for HR decision-making.</a:t>
            </a:r>
          </a:p>
          <a:p>
            <a:endParaRPr lang="en-US" sz="1600" dirty="0"/>
          </a:p>
        </p:txBody>
      </p:sp>
      <p:pic>
        <p:nvPicPr>
          <p:cNvPr id="4098" name="Picture 2" descr="Objective Performance Review Feedback">
            <a:extLst>
              <a:ext uri="{FF2B5EF4-FFF2-40B4-BE49-F238E27FC236}">
                <a16:creationId xmlns:a16="http://schemas.microsoft.com/office/drawing/2014/main" id="{2B5030BE-E76C-403C-8C0C-F238749F86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3344" y="1631004"/>
            <a:ext cx="5749774" cy="3826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1376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
        <p:nvSpPr>
          <p:cNvPr id="2" name="TextBox 1">
            <a:extLst>
              <a:ext uri="{FF2B5EF4-FFF2-40B4-BE49-F238E27FC236}">
                <a16:creationId xmlns:a16="http://schemas.microsoft.com/office/drawing/2014/main" id="{9E8B1583-7E5C-4780-8C89-18C80A24FAEB}"/>
              </a:ext>
            </a:extLst>
          </p:cNvPr>
          <p:cNvSpPr txBox="1"/>
          <p:nvPr/>
        </p:nvSpPr>
        <p:spPr>
          <a:xfrm>
            <a:off x="6477000" y="3345600"/>
            <a:ext cx="1600200" cy="369332"/>
          </a:xfrm>
          <a:prstGeom prst="rect">
            <a:avLst/>
          </a:prstGeom>
          <a:noFill/>
        </p:spPr>
        <p:txBody>
          <a:bodyPr wrap="square" rtlCol="0">
            <a:spAutoFit/>
          </a:bodyPr>
          <a:lstStyle/>
          <a:p>
            <a:r>
              <a:rPr lang="en-US" b="1" i="1" u="sng" dirty="0">
                <a:solidFill>
                  <a:schemeClr val="bg1">
                    <a:lumMod val="95000"/>
                  </a:schemeClr>
                </a:solidFill>
              </a:rPr>
              <a:t>SHANU SINGH</a:t>
            </a: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7617</TotalTime>
  <Words>856</Words>
  <Application>Microsoft Office PowerPoint</Application>
  <PresentationFormat>Widescreen</PresentationFormat>
  <Paragraphs>107</Paragraphs>
  <Slides>16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Arial Unicode MS</vt:lpstr>
      <vt:lpstr>Calibri</vt:lpstr>
      <vt:lpstr>Wingdings</vt:lpstr>
      <vt:lpstr>BIA Template</vt:lpstr>
      <vt:lpstr>PowerPoint Presentation</vt:lpstr>
      <vt:lpstr>Agenda</vt:lpstr>
      <vt:lpstr>Introduction (Project Overview)</vt:lpstr>
      <vt:lpstr>Objectives</vt:lpstr>
      <vt:lpstr>Data Acquisition</vt:lpstr>
      <vt:lpstr>PowerPoint Presentation</vt:lpstr>
      <vt:lpstr>Explore Data Analysis (EDA)</vt:lpstr>
      <vt:lpstr>Continued…</vt:lpstr>
      <vt:lpstr>Continued…</vt:lpstr>
      <vt:lpstr>Model Selection</vt:lpstr>
      <vt:lpstr>Evaluation metrics</vt:lpstr>
      <vt:lpstr>Model Comparison</vt:lpstr>
      <vt:lpstr>Best Model</vt:lpstr>
      <vt:lpstr>Model Deployment with Streamlit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Shanu Singh</cp:lastModifiedBy>
  <cp:revision>2275</cp:revision>
  <dcterms:created xsi:type="dcterms:W3CDTF">2020-12-23T13:36:00Z</dcterms:created>
  <dcterms:modified xsi:type="dcterms:W3CDTF">2026-01-19T10:03:17Z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